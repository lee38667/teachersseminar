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2" r:id="rId3"/>
    <p:sldId id="323" r:id="rId4"/>
    <p:sldId id="324" r:id="rId5"/>
    <p:sldId id="32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DDCDE0"/>
    <a:srgbClr val="D71920"/>
    <a:srgbClr val="66FF66"/>
    <a:srgbClr val="FFC217"/>
    <a:srgbClr val="33CCCC"/>
    <a:srgbClr val="006666"/>
    <a:srgbClr val="FFFF00"/>
    <a:srgbClr val="00CC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4660"/>
  </p:normalViewPr>
  <p:slideViewPr>
    <p:cSldViewPr snapToGrid="0">
      <p:cViewPr varScale="1">
        <p:scale>
          <a:sx n="67" d="100"/>
          <a:sy n="67" d="100"/>
        </p:scale>
        <p:origin x="-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72CA6-8DA2-4E19-8772-F260EADF6229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4A521-9FA8-4F4C-8C7D-BDCAF8FFFE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571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A521-9FA8-4F4C-8C7D-BDCAF8FFFE3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863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A521-9FA8-4F4C-8C7D-BDCAF8FFFE3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300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A521-9FA8-4F4C-8C7D-BDCAF8FFFE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725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A521-9FA8-4F4C-8C7D-BDCAF8FFFE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669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A521-9FA8-4F4C-8C7D-BDCAF8FFFE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903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6796-4F47-4B16-8840-835CFE9B3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D82FD-86BE-4C3B-8AD1-6301575A6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6DF7-A4B4-4EB4-BC56-53951BA7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BE06B-6ED3-4B8F-A49F-A238F9B7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95C50-E199-4F17-A7A7-59268937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81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ACDE-11F9-4C78-AEBF-2D57229B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11C0-11E9-4207-A789-CDC6C46E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F150-A6D9-4E58-BD3A-9FEC39B4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7E9-31DA-469F-A791-EF0B07F2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2C77A-3566-401D-A0C2-0E60BC0E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79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EF8F-F721-4D55-A8CD-31DA8990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6849-B4FB-4A0B-80D8-890D793EA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71245-5DCB-4BEC-844E-51D6125E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9F4BB-C16E-4272-AB24-DB9A7CB4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52055-C25C-46E2-90E5-5E76756A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77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EC177-D444-4798-92F9-CBD7F71B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BF1EE-5B88-4C42-9A89-E862A52A6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208AB-9906-432D-A928-60CE6DA66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35677-870A-40B7-8B41-5E82DF36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A1675-9C02-4463-8523-C8A48937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F6CF8-3038-42A6-B4A6-CDC12983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5094-1E88-469B-9D28-D7308BB6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81682-C79F-4E17-B588-75A84940D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20706-7639-4886-A05D-FED7DC96D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D3574-AB35-4DBD-9914-1DE306243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DE71D-FD59-4DB6-8C2C-A2D0F6068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C35F5-BFA9-4F18-950B-C101B478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E45BB-5372-4A03-9DA9-A3B0010F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24C8D-1A7A-4198-B144-B2079531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87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EDC9C-7FF0-419C-8E0C-90A56B23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EC17A-DCF6-42AC-B08D-A1EB3E1B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B1DA5-3921-4513-9A12-AEFD224F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8EBB0-F4C4-43FB-874D-09A1793D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2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88AB8-25F6-41AD-B137-26365A3F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34D7A-0C51-49A5-B999-6D1DD1AA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63E6-E5F6-4D40-A0D0-B1EA295B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FAB1-E5D7-4FD3-A72E-7CBA9760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36ED-F256-4072-928C-42644991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0574C-5161-401D-9B4A-0672E22E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7C2F3-C4F9-4CFC-9491-2DB6CE93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F21F5-9B37-4C51-A812-6E93C348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5A528-74DD-4318-8433-9E997328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88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D7E4-D53A-4395-B2E9-636F8B82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873BE-5E83-44DE-98DB-DD8255E2F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0F95D-8479-466E-83CC-B6FA861FE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A65F0-9859-4616-9362-D3A2316E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5B198-5794-47A3-BA85-5C3A501C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CF3E8-6E65-45A4-89E5-3F7E98CF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3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FE02-2286-4732-90CC-664C943C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826D7-4A42-428C-B238-1F33C5EB7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C8836-CBCF-49D0-91B5-B5839AD7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17BBA-B84E-44C0-B6BD-5C62DECC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B8B95-4A55-4C3C-9837-1358282E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9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3F6ED-227A-400E-A3FC-E1DDD6825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849D5-D224-4121-B682-523823CC3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0F7A-6DE2-436E-A02F-8AF93CF3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60723-C71C-4D0D-8AEA-D43FFC7F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A1EC2-3AF2-4DCE-BFF8-044D0E84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2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080A1-3A8D-4577-BCA3-21002F3B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DBB90-E3FD-42D1-8D5F-813D0AC6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A99D6-E9AF-4D1E-A81E-F54996841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83F0-0574-47A8-976B-713FA4A3ACC4}" type="datetimeFigureOut">
              <a:rPr lang="en-GB" smtClean="0"/>
              <a:t>03/10/2022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C5609-6901-4E1F-BA07-69547788C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3EC69-8C4D-400E-80F5-188E06DD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D89E4-2C70-41BB-B809-4F6D56CAAA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9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702E-DBE6-40D4-A157-DD5B5378A99C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762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FB48B-B373-4E6B-BCD7-9E2CF33037BB}"/>
              </a:ext>
            </a:extLst>
          </p:cNvPr>
          <p:cNvSpPr txBox="1"/>
          <p:nvPr/>
        </p:nvSpPr>
        <p:spPr>
          <a:xfrm rot="16200000">
            <a:off x="10490609" y="3105834"/>
            <a:ext cx="2756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2"/>
                </a:solidFill>
                <a:latin typeface="Tw Cen MT" panose="020B0602020104020603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36B37-99BE-46BE-88B1-A0BBB30B3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9" y="48525"/>
            <a:ext cx="897241" cy="887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C47066-10A0-47C6-AB1C-50F0FFCC911B}"/>
              </a:ext>
            </a:extLst>
          </p:cNvPr>
          <p:cNvSpPr/>
          <p:nvPr/>
        </p:nvSpPr>
        <p:spPr>
          <a:xfrm>
            <a:off x="-6130" y="0"/>
            <a:ext cx="265041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406D10-D9D4-4E05-8865-B6997F0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7568" y="1556793"/>
            <a:ext cx="7772400" cy="1470025"/>
          </a:xfrm>
        </p:spPr>
        <p:txBody>
          <a:bodyPr>
            <a:noAutofit/>
          </a:bodyPr>
          <a:lstStyle/>
          <a:p>
            <a:r>
              <a:rPr lang="en-GB" sz="3600" dirty="0"/>
              <a:t/>
            </a:r>
            <a:br>
              <a:rPr lang="en-GB" sz="3600" dirty="0"/>
            </a:br>
            <a:r>
              <a:rPr lang="en-GB" sz="3600" b="1" dirty="0" smtClean="0"/>
              <a:t>Teaching Strategies or Life Sciences: </a:t>
            </a:r>
            <a:br>
              <a:rPr lang="en-GB" sz="3600" b="1" dirty="0" smtClean="0"/>
            </a:br>
            <a:r>
              <a:rPr lang="en-GB" sz="3600" b="1" dirty="0" smtClean="0"/>
              <a:t>Using Digital media and Scientific Experimentation</a:t>
            </a:r>
            <a:endParaRPr lang="en-GB" sz="3600" b="1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43092F4-01C9-4F98-A387-9E7B28E7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7568" y="4249895"/>
            <a:ext cx="9776756" cy="2102624"/>
          </a:xfrm>
        </p:spPr>
        <p:txBody>
          <a:bodyPr>
            <a:normAutofit/>
          </a:bodyPr>
          <a:lstStyle/>
          <a:p>
            <a:endParaRPr lang="en-GB" dirty="0">
              <a:latin typeface="ArialMT"/>
            </a:endParaRPr>
          </a:p>
          <a:p>
            <a:pPr algn="r"/>
            <a:r>
              <a:rPr lang="en-GB" dirty="0">
                <a:latin typeface="Arial" pitchFamily="34" charset="0"/>
                <a:cs typeface="Arial" pitchFamily="34" charset="0"/>
              </a:rPr>
              <a:t>Mr D. Haiyambo</a:t>
            </a:r>
            <a:br>
              <a:rPr lang="en-GB" dirty="0">
                <a:latin typeface="Arial" pitchFamily="34" charset="0"/>
                <a:cs typeface="Arial" pitchFamily="34" charset="0"/>
              </a:rPr>
            </a:br>
            <a:r>
              <a:rPr lang="en-GB" dirty="0" smtClean="0">
                <a:latin typeface="Arial" pitchFamily="34" charset="0"/>
                <a:cs typeface="Arial" pitchFamily="34" charset="0"/>
              </a:rPr>
              <a:t>Human, Biological </a:t>
            </a:r>
            <a:r>
              <a:rPr lang="en-GB" dirty="0">
                <a:latin typeface="Arial" pitchFamily="34" charset="0"/>
                <a:cs typeface="Arial" pitchFamily="34" charset="0"/>
              </a:rPr>
              <a:t>Sciences and Translational Medical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Sciences</a:t>
            </a:r>
          </a:p>
          <a:p>
            <a:pPr algn="r"/>
            <a:r>
              <a:rPr lang="en-GB" dirty="0" smtClean="0">
                <a:latin typeface="Arial" pitchFamily="34" charset="0"/>
                <a:cs typeface="Arial" pitchFamily="34" charset="0"/>
              </a:rPr>
              <a:t>UNAM –School of Medicine</a:t>
            </a:r>
            <a:r>
              <a:rPr lang="en-GB" dirty="0">
                <a:latin typeface="Arial" pitchFamily="34" charset="0"/>
                <a:cs typeface="Arial" pitchFamily="34" charset="0"/>
              </a:rPr>
              <a:t/>
            </a:r>
            <a:br>
              <a:rPr lang="en-GB" dirty="0">
                <a:latin typeface="Arial" pitchFamily="34" charset="0"/>
                <a:cs typeface="Arial" pitchFamily="34" charset="0"/>
              </a:rPr>
            </a:br>
            <a:endParaRPr lang="en-GB" dirty="0">
              <a:latin typeface="ArialMT"/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77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702E-DBE6-40D4-A157-DD5B5378A99C}"/>
              </a:ext>
            </a:extLst>
          </p:cNvPr>
          <p:cNvSpPr/>
          <p:nvPr/>
        </p:nvSpPr>
        <p:spPr>
          <a:xfrm>
            <a:off x="2373" y="132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762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36B37-99BE-46BE-88B1-A0BBB30B3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9" y="48525"/>
            <a:ext cx="897241" cy="887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C47066-10A0-47C6-AB1C-50F0FFCC911B}"/>
              </a:ext>
            </a:extLst>
          </p:cNvPr>
          <p:cNvSpPr/>
          <p:nvPr/>
        </p:nvSpPr>
        <p:spPr>
          <a:xfrm>
            <a:off x="-6130" y="0"/>
            <a:ext cx="265041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406D10-D9D4-4E05-8865-B6997F0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961" y="95417"/>
            <a:ext cx="10756860" cy="926442"/>
          </a:xfrm>
        </p:spPr>
        <p:txBody>
          <a:bodyPr>
            <a:noAutofit/>
          </a:bodyPr>
          <a:lstStyle/>
          <a:p>
            <a:r>
              <a:rPr lang="en-GB" sz="3600" dirty="0"/>
              <a:t/>
            </a:r>
            <a:br>
              <a:rPr lang="en-GB" sz="3600" dirty="0"/>
            </a:br>
            <a:endParaRPr lang="en-GB" sz="3600" b="1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43092F4-01C9-4F98-A387-9E7B28E7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452" y="1774979"/>
            <a:ext cx="9923841" cy="4343153"/>
          </a:xfrm>
        </p:spPr>
        <p:txBody>
          <a:bodyPr>
            <a:normAutofit lnSpcReduction="10000"/>
          </a:bodyPr>
          <a:lstStyle/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800" dirty="0">
                <a:solidFill>
                  <a:prstClr val="black"/>
                </a:solidFill>
              </a:rPr>
              <a:t>Life sciences </a:t>
            </a:r>
            <a:r>
              <a:rPr lang="en-GB" sz="2800" dirty="0" smtClean="0">
                <a:solidFill>
                  <a:prstClr val="black"/>
                </a:solidFill>
              </a:rPr>
              <a:t>– the study </a:t>
            </a:r>
            <a:r>
              <a:rPr lang="en-GB" sz="2800" dirty="0">
                <a:solidFill>
                  <a:prstClr val="black"/>
                </a:solidFill>
              </a:rPr>
              <a:t>of biological </a:t>
            </a:r>
            <a:r>
              <a:rPr lang="en-GB" sz="2800" dirty="0" smtClean="0">
                <a:solidFill>
                  <a:prstClr val="black"/>
                </a:solidFill>
              </a:rPr>
              <a:t>life</a:t>
            </a:r>
          </a:p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800" dirty="0" smtClean="0">
                <a:solidFill>
                  <a:prstClr val="black"/>
                </a:solidFill>
              </a:rPr>
              <a:t>The complexity off the subject</a:t>
            </a:r>
          </a:p>
          <a:p>
            <a:pPr lvl="0" algn="l">
              <a:lnSpc>
                <a:spcPct val="100000"/>
              </a:lnSpc>
              <a:spcBef>
                <a:spcPct val="20000"/>
              </a:spcBef>
            </a:pPr>
            <a:endParaRPr lang="en-GB" sz="2800" dirty="0">
              <a:solidFill>
                <a:prstClr val="black"/>
              </a:solidFill>
            </a:endParaRPr>
          </a:p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800" dirty="0" smtClean="0">
                <a:solidFill>
                  <a:prstClr val="black"/>
                </a:solidFill>
              </a:rPr>
              <a:t>Effective teaching strategies:</a:t>
            </a:r>
            <a:endParaRPr lang="en-GB" sz="2800" dirty="0">
              <a:solidFill>
                <a:prstClr val="black"/>
              </a:solidFill>
            </a:endParaRP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2800" dirty="0">
              <a:solidFill>
                <a:prstClr val="black"/>
              </a:solidFill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prstClr val="black"/>
                </a:solidFill>
              </a:rPr>
              <a:t> </a:t>
            </a:r>
            <a:r>
              <a:rPr lang="en-GB" sz="2800" dirty="0" smtClean="0">
                <a:solidFill>
                  <a:prstClr val="black"/>
                </a:solidFill>
              </a:rPr>
              <a:t>Visual aids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prstClr val="black"/>
                </a:solidFill>
              </a:rPr>
              <a:t> </a:t>
            </a:r>
            <a:r>
              <a:rPr lang="en-GB" sz="2800" dirty="0" smtClean="0">
                <a:solidFill>
                  <a:prstClr val="black"/>
                </a:solidFill>
              </a:rPr>
              <a:t>Integrate technology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800" dirty="0" smtClean="0">
                <a:solidFill>
                  <a:prstClr val="black"/>
                </a:solidFill>
              </a:rPr>
              <a:t> Learning </a:t>
            </a:r>
            <a:r>
              <a:rPr lang="en-GB" sz="2800" dirty="0">
                <a:solidFill>
                  <a:prstClr val="black"/>
                </a:solidFill>
              </a:rPr>
              <a:t>from experience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prstClr val="black"/>
                </a:solidFill>
              </a:rPr>
              <a:t> S</a:t>
            </a:r>
            <a:r>
              <a:rPr lang="en-GB" sz="2800" dirty="0" smtClean="0">
                <a:solidFill>
                  <a:prstClr val="black"/>
                </a:solidFill>
              </a:rPr>
              <a:t>tudent teaching</a:t>
            </a:r>
            <a:endParaRPr lang="en-GB" sz="2800" dirty="0">
              <a:solidFill>
                <a:prstClr val="black"/>
              </a:solidFill>
            </a:endParaRPr>
          </a:p>
          <a:p>
            <a:pPr lvl="1" algn="l">
              <a:lnSpc>
                <a:spcPct val="100000"/>
              </a:lnSpc>
              <a:spcBef>
                <a:spcPct val="20000"/>
              </a:spcBef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4907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702E-DBE6-40D4-A157-DD5B5378A99C}"/>
              </a:ext>
            </a:extLst>
          </p:cNvPr>
          <p:cNvSpPr/>
          <p:nvPr/>
        </p:nvSpPr>
        <p:spPr>
          <a:xfrm>
            <a:off x="2373" y="132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762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36B37-99BE-46BE-88B1-A0BBB30B3B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9" y="48525"/>
            <a:ext cx="897241" cy="887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C47066-10A0-47C6-AB1C-50F0FFCC911B}"/>
              </a:ext>
            </a:extLst>
          </p:cNvPr>
          <p:cNvSpPr/>
          <p:nvPr/>
        </p:nvSpPr>
        <p:spPr>
          <a:xfrm>
            <a:off x="-6130" y="0"/>
            <a:ext cx="265041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406D10-D9D4-4E05-8865-B6997F0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212" y="198970"/>
            <a:ext cx="10756860" cy="926442"/>
          </a:xfrm>
        </p:spPr>
        <p:txBody>
          <a:bodyPr>
            <a:noAutofit/>
          </a:bodyPr>
          <a:lstStyle/>
          <a:p>
            <a:r>
              <a:rPr lang="en-GB" sz="3600" dirty="0"/>
              <a:t/>
            </a:r>
            <a:br>
              <a:rPr lang="en-GB" sz="3600" dirty="0"/>
            </a:br>
            <a:r>
              <a:rPr lang="en-GB" sz="4400" b="1" dirty="0" smtClean="0"/>
              <a:t>Visual Aids and Integration of technology</a:t>
            </a:r>
            <a:endParaRPr lang="en-GB" sz="4400" b="1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43092F4-01C9-4F98-A387-9E7B28E7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452" y="1774979"/>
            <a:ext cx="10097605" cy="4717261"/>
          </a:xfrm>
        </p:spPr>
        <p:txBody>
          <a:bodyPr>
            <a:normAutofit/>
          </a:bodyPr>
          <a:lstStyle/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prstClr val="black"/>
                </a:solidFill>
              </a:rPr>
              <a:t>photographs, infographics, </a:t>
            </a:r>
            <a:r>
              <a:rPr lang="en-GB" sz="2200" dirty="0" smtClean="0">
                <a:solidFill>
                  <a:prstClr val="black"/>
                </a:solidFill>
              </a:rPr>
              <a:t>diagrams and videos.</a:t>
            </a: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Laptops, tablets, cell phones, television.</a:t>
            </a:r>
            <a:endParaRPr lang="en-GB" sz="2200" dirty="0">
              <a:solidFill>
                <a:prstClr val="black"/>
              </a:solidFill>
            </a:endParaRPr>
          </a:p>
          <a:p>
            <a:pPr algn="l"/>
            <a:endParaRPr lang="en-GB" dirty="0" smtClean="0"/>
          </a:p>
          <a:p>
            <a:pPr algn="l"/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716743"/>
              </p:ext>
            </p:extLst>
          </p:nvPr>
        </p:nvGraphicFramePr>
        <p:xfrm>
          <a:off x="749509" y="2686050"/>
          <a:ext cx="10723354" cy="372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2666">
                  <a:extLst>
                    <a:ext uri="{9D8B030D-6E8A-4147-A177-3AD203B41FA5}">
                      <a16:colId xmlns:a16="http://schemas.microsoft.com/office/drawing/2014/main" val="1950607874"/>
                    </a:ext>
                  </a:extLst>
                </a:gridCol>
                <a:gridCol w="5500688">
                  <a:extLst>
                    <a:ext uri="{9D8B030D-6E8A-4147-A177-3AD203B41FA5}">
                      <a16:colId xmlns:a16="http://schemas.microsoft.com/office/drawing/2014/main" val="280182070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r>
                        <a:rPr lang="en-US" dirty="0" smtClean="0"/>
                        <a:t>Example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384831"/>
                  </a:ext>
                </a:extLst>
              </a:tr>
              <a:tr h="32843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94333"/>
                  </a:ext>
                </a:extLst>
              </a:tr>
            </a:tbl>
          </a:graphicData>
        </a:graphic>
      </p:graphicFrame>
      <p:pic>
        <p:nvPicPr>
          <p:cNvPr id="4" name="Living organism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9509" y="3207478"/>
            <a:ext cx="5236636" cy="2943309"/>
          </a:xfrm>
          <a:prstGeom prst="rect">
            <a:avLst/>
          </a:prstGeom>
        </p:spPr>
      </p:pic>
      <p:pic>
        <p:nvPicPr>
          <p:cNvPr id="5" name="Cell structure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71430" y="3207478"/>
            <a:ext cx="5171130" cy="29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4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702E-DBE6-40D4-A157-DD5B5378A99C}"/>
              </a:ext>
            </a:extLst>
          </p:cNvPr>
          <p:cNvSpPr/>
          <p:nvPr/>
        </p:nvSpPr>
        <p:spPr>
          <a:xfrm>
            <a:off x="2373" y="132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762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36B37-99BE-46BE-88B1-A0BBB30B3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9" y="48525"/>
            <a:ext cx="897241" cy="887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C47066-10A0-47C6-AB1C-50F0FFCC911B}"/>
              </a:ext>
            </a:extLst>
          </p:cNvPr>
          <p:cNvSpPr/>
          <p:nvPr/>
        </p:nvSpPr>
        <p:spPr>
          <a:xfrm>
            <a:off x="-6130" y="0"/>
            <a:ext cx="265041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406D10-D9D4-4E05-8865-B6997F0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212" y="198970"/>
            <a:ext cx="10756860" cy="926442"/>
          </a:xfrm>
        </p:spPr>
        <p:txBody>
          <a:bodyPr>
            <a:noAutofit/>
          </a:bodyPr>
          <a:lstStyle/>
          <a:p>
            <a:r>
              <a:rPr lang="en-GB" sz="3600" dirty="0"/>
              <a:t/>
            </a:r>
            <a:br>
              <a:rPr lang="en-GB" sz="3600" dirty="0"/>
            </a:br>
            <a:r>
              <a:rPr lang="en-GB" sz="4400" b="1" dirty="0" smtClean="0"/>
              <a:t>Visual Aids and Integration of technology</a:t>
            </a:r>
            <a:endParaRPr lang="en-GB" sz="4400" b="1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43092F4-01C9-4F98-A387-9E7B28E7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452" y="1774979"/>
            <a:ext cx="10097605" cy="4717261"/>
          </a:xfrm>
        </p:spPr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200" b="1" dirty="0" smtClean="0">
                <a:solidFill>
                  <a:prstClr val="black"/>
                </a:solidFill>
              </a:rPr>
              <a:t>Required</a:t>
            </a:r>
          </a:p>
          <a:p>
            <a:pPr lvl="0" algn="l">
              <a:lnSpc>
                <a:spcPct val="100000"/>
              </a:lnSpc>
              <a:spcBef>
                <a:spcPct val="20000"/>
              </a:spcBef>
            </a:pPr>
            <a:endParaRPr lang="en-GB" sz="2200" b="1" dirty="0" smtClean="0">
              <a:solidFill>
                <a:prstClr val="black"/>
              </a:solidFill>
            </a:endParaRP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Computer literacy skills (</a:t>
            </a:r>
            <a:r>
              <a:rPr lang="en-GB" sz="2200" dirty="0">
                <a:solidFill>
                  <a:prstClr val="black"/>
                </a:solidFill>
              </a:rPr>
              <a:t>v</a:t>
            </a:r>
            <a:r>
              <a:rPr lang="en-GB" sz="2200" dirty="0" smtClean="0">
                <a:solidFill>
                  <a:prstClr val="black"/>
                </a:solidFill>
              </a:rPr>
              <a:t>ideo editing)</a:t>
            </a: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Digital media devices</a:t>
            </a: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2200" dirty="0">
              <a:solidFill>
                <a:prstClr val="black"/>
              </a:solidFill>
            </a:endParaRPr>
          </a:p>
          <a:p>
            <a:pPr marL="285750" lvl="0" indent="-28575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Can also be useful for assessment (online quizzes)</a:t>
            </a:r>
            <a:endParaRPr lang="en-GB" sz="2200" dirty="0" smtClean="0">
              <a:solidFill>
                <a:prstClr val="black"/>
              </a:solidFill>
            </a:endParaRPr>
          </a:p>
          <a:p>
            <a:pPr algn="l"/>
            <a:endParaRPr lang="en-GB" dirty="0" smtClean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13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51702E-DBE6-40D4-A157-DD5B5378A99C}"/>
              </a:ext>
            </a:extLst>
          </p:cNvPr>
          <p:cNvSpPr/>
          <p:nvPr/>
        </p:nvSpPr>
        <p:spPr>
          <a:xfrm>
            <a:off x="2373" y="132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15900" dist="76200" sx="101000" sy="101000" algn="ctr" rotWithShape="0">
              <a:schemeClr val="tx1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36B37-99BE-46BE-88B1-A0BBB30B3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9" y="48525"/>
            <a:ext cx="897241" cy="887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C47066-10A0-47C6-AB1C-50F0FFCC911B}"/>
              </a:ext>
            </a:extLst>
          </p:cNvPr>
          <p:cNvSpPr/>
          <p:nvPr/>
        </p:nvSpPr>
        <p:spPr>
          <a:xfrm>
            <a:off x="-6130" y="0"/>
            <a:ext cx="265041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406D10-D9D4-4E05-8865-B6997F0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212" y="198970"/>
            <a:ext cx="10756860" cy="926442"/>
          </a:xfrm>
        </p:spPr>
        <p:txBody>
          <a:bodyPr>
            <a:noAutofit/>
          </a:bodyPr>
          <a:lstStyle/>
          <a:p>
            <a:r>
              <a:rPr lang="en-GB" sz="3600" dirty="0"/>
              <a:t/>
            </a:r>
            <a:br>
              <a:rPr lang="en-GB" sz="3600" dirty="0"/>
            </a:br>
            <a:r>
              <a:rPr lang="en-GB" sz="4400" b="1" dirty="0" smtClean="0"/>
              <a:t>Learning from Experience and Student teaching</a:t>
            </a:r>
            <a:endParaRPr lang="en-GB" sz="4400" b="1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43092F4-01C9-4F98-A387-9E7B28E7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452" y="1774979"/>
            <a:ext cx="10097605" cy="4717261"/>
          </a:xfrm>
        </p:spPr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200" b="1" dirty="0" smtClean="0">
                <a:solidFill>
                  <a:prstClr val="black"/>
                </a:solidFill>
              </a:rPr>
              <a:t>Scientific experiments</a:t>
            </a: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Science kits, demonstrations</a:t>
            </a: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Students presentations based on research</a:t>
            </a: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2200" dirty="0">
              <a:solidFill>
                <a:prstClr val="black"/>
              </a:solidFill>
            </a:endParaRP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prstClr val="black"/>
              </a:solidFill>
            </a:endParaRP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2200" dirty="0">
              <a:solidFill>
                <a:prstClr val="black"/>
              </a:solidFill>
            </a:endParaRPr>
          </a:p>
          <a:p>
            <a:pPr lvl="0" algn="l">
              <a:lnSpc>
                <a:spcPct val="100000"/>
              </a:lnSpc>
              <a:spcBef>
                <a:spcPct val="20000"/>
              </a:spcBef>
            </a:pPr>
            <a:r>
              <a:rPr lang="en-GB" sz="2200" b="1" dirty="0" smtClean="0">
                <a:solidFill>
                  <a:prstClr val="black"/>
                </a:solidFill>
              </a:rPr>
              <a:t>Required</a:t>
            </a: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Resources (Finances)</a:t>
            </a:r>
          </a:p>
          <a:p>
            <a:pPr marL="342900" lvl="0" indent="-342900" algn="l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prstClr val="black"/>
                </a:solidFill>
              </a:rPr>
              <a:t>Support services</a:t>
            </a:r>
            <a:endParaRPr lang="en-GB" sz="2200" dirty="0" smtClean="0">
              <a:solidFill>
                <a:prstClr val="black"/>
              </a:solidFill>
            </a:endParaRPr>
          </a:p>
          <a:p>
            <a:pPr algn="l"/>
            <a:endParaRPr lang="en-GB" dirty="0" smtClean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112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5258</TotalTime>
  <Words>100</Words>
  <Application>Microsoft Office PowerPoint</Application>
  <PresentationFormat>Widescreen</PresentationFormat>
  <Paragraphs>43</Paragraphs>
  <Slides>5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ArialMT</vt:lpstr>
      <vt:lpstr>Calibri</vt:lpstr>
      <vt:lpstr>Calibri Light</vt:lpstr>
      <vt:lpstr>Tw Cen MT</vt:lpstr>
      <vt:lpstr>Office Theme</vt:lpstr>
      <vt:lpstr> Teaching Strategies or Life Sciences:  Using Digital media and Scientific Experimentation</vt:lpstr>
      <vt:lpstr> </vt:lpstr>
      <vt:lpstr> Visual Aids and Integration of technology</vt:lpstr>
      <vt:lpstr> Visual Aids and Integration of technology</vt:lpstr>
      <vt:lpstr> Learning from Experience and Student teaching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</dc:creator>
  <cp:lastModifiedBy>Daniel</cp:lastModifiedBy>
  <cp:revision>104</cp:revision>
  <dcterms:created xsi:type="dcterms:W3CDTF">2020-07-27T17:36:33Z</dcterms:created>
  <dcterms:modified xsi:type="dcterms:W3CDTF">2022-10-03T07:37:20Z</dcterms:modified>
</cp:coreProperties>
</file>