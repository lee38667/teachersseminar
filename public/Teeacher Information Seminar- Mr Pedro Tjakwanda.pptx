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6">
  <p:sldMasterIdLst>
    <p:sldMasterId id="2147483676" r:id="rId1"/>
  </p:sldMasterIdLst>
  <p:notesMasterIdLst>
    <p:notesMasterId r:id="rId10"/>
  </p:notesMasterIdLst>
  <p:handoutMasterIdLst>
    <p:handoutMasterId r:id="rId11"/>
  </p:handoutMasterIdLst>
  <p:sldIdLst>
    <p:sldId id="283" r:id="rId2"/>
    <p:sldId id="284" r:id="rId3"/>
    <p:sldId id="289" r:id="rId4"/>
    <p:sldId id="292" r:id="rId5"/>
    <p:sldId id="332" r:id="rId6"/>
    <p:sldId id="331" r:id="rId7"/>
    <p:sldId id="291" r:id="rId8"/>
    <p:sldId id="290" r:id="rId9"/>
  </p:sldIdLst>
  <p:sldSz cx="10150475" cy="7635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2">
          <p15:clr>
            <a:srgbClr val="A4A3A4"/>
          </p15:clr>
        </p15:guide>
        <p15:guide id="2" pos="4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tila, Markus (NAS)" initials="HM(" lastIdx="2" clrIdx="0">
    <p:extLst>
      <p:ext uri="{19B8F6BF-5375-455C-9EA6-DF929625EA0E}">
        <p15:presenceInfo xmlns:p15="http://schemas.microsoft.com/office/powerpoint/2012/main" userId="S-1-5-21-1706773989-2871138300-1614656081-66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26D"/>
    <a:srgbClr val="141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249" autoAdjust="0"/>
  </p:normalViewPr>
  <p:slideViewPr>
    <p:cSldViewPr snapToGrid="0" snapToObjects="1">
      <p:cViewPr varScale="1">
        <p:scale>
          <a:sx n="67" d="100"/>
          <a:sy n="67" d="100"/>
        </p:scale>
        <p:origin x="828" y="72"/>
      </p:cViewPr>
      <p:guideLst>
        <p:guide orient="horz" pos="462"/>
        <p:guide pos="422"/>
      </p:guideLst>
    </p:cSldViewPr>
  </p:slideViewPr>
  <p:outlineViewPr>
    <p:cViewPr>
      <p:scale>
        <a:sx n="33" d="100"/>
        <a:sy n="33" d="100"/>
      </p:scale>
      <p:origin x="0" y="-5337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5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F3AA4-E0EA-42FD-A271-BAEDEC0927CC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ED3DB-AEA1-40EB-A569-3F76B233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593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1B012-DD04-4B31-A494-A1BA265EDB77}" type="datetimeFigureOut">
              <a:rPr lang="en-ZA" smtClean="0"/>
              <a:pPr/>
              <a:t>2022/10/03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7950" y="1143000"/>
            <a:ext cx="4102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C26BE-5E2F-45FC-9CB2-AA4FF4FCAFA0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84144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4133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0452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Study Design </a:t>
            </a:r>
          </a:p>
          <a:p>
            <a:pPr marL="0" marR="0" lvl="0" indent="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is a </a:t>
            </a:r>
          </a:p>
          <a:p>
            <a:pPr marL="457200" marR="0" lvl="0" indent="-4572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Observational, descriptive cross-sectional study.</a:t>
            </a: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Sampling Method </a:t>
            </a: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Purposive sampling will be employed to collect samples.  </a:t>
            </a: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sampling points were chosen to represent areas where various human activities occur. </a:t>
            </a: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508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will give information on the amount of radiation the human population is likely to be exposed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7019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ctr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To assess the  </a:t>
                </a:r>
                <a:r>
                  <a:rPr kumimoji="0" lang="en-US" sz="2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natural radioactivity levels and radiation hazards in shore sediments from the Zambezi River, </a:t>
                </a:r>
                <a:r>
                  <a:rPr kumimoji="0" lang="en-US" sz="25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Namibia</a:t>
                </a:r>
              </a:p>
              <a:p>
                <a:pPr marL="0" marR="0" lvl="0" indent="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the following specific objectives are pursued </a:t>
                </a: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To measure the activity concentration of naturally occurring radionuclides (</a:t>
                </a:r>
                <a:r>
                  <a:rPr kumimoji="0" lang="en-US" sz="25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〖238〗_𝑈</a:t>
                </a: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, </a:t>
                </a:r>
                <a:r>
                  <a:rPr kumimoji="0" lang="en-US" sz="25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〖232〗_𝑇ℎ</a:t>
                </a: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and </a:t>
                </a:r>
                <a:r>
                  <a:rPr kumimoji="0" lang="en-US" sz="25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〖40〗_𝐾</a:t>
                </a: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) in shore sediments from the Zambezi River. </a:t>
                </a: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To determine the absorbed dose rate and annual effective dose rates from gamma rays emitted by radionuclides in shore sediments from the Zambezi River</a:t>
                </a:r>
                <a:r>
                  <a:rPr kumimoji="0" lang="en-US" sz="25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endParaRPr kumimoji="0" lang="en-US" sz="25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0" marR="0" lvl="0" indent="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None/>
                  <a:tabLst/>
                  <a:defRPr/>
                </a:pPr>
                <a:r>
                  <a:rPr kumimoji="0" lang="en-US" sz="25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	And lastly :</a:t>
                </a: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  <a:p>
                <a:pPr marL="514350" marR="0" lvl="0" indent="-514350" algn="just" defTabSz="5081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LcPeriod"/>
                  <a:tabLst/>
                  <a:defRPr/>
                </a:pP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To evaluate the hazard index due to natural radionuclides and their decay products from shore sediments from the Zambezi River.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074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C26BE-5E2F-45FC-9CB2-AA4FF4FCAFA0}" type="slidenum">
              <a:rPr lang="en-ZA" smtClean="0"/>
              <a:pPr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448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 title="Page Number Shape"/>
          <p:cNvSpPr/>
          <p:nvPr/>
        </p:nvSpPr>
        <p:spPr bwMode="auto">
          <a:xfrm>
            <a:off x="9697580" y="1324090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6577" y="1272974"/>
            <a:ext cx="5856473" cy="4753176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6439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6577" y="6166071"/>
            <a:ext cx="5856473" cy="786474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1998" b="0" i="1" baseline="0">
                <a:solidFill>
                  <a:schemeClr val="tx2"/>
                </a:solidFill>
              </a:defRPr>
            </a:lvl1pPr>
            <a:lvl2pPr marL="380653" indent="0" algn="ctr">
              <a:buNone/>
              <a:defRPr sz="1665"/>
            </a:lvl2pPr>
            <a:lvl3pPr marL="761307" indent="0" algn="ctr">
              <a:buNone/>
              <a:defRPr sz="1499"/>
            </a:lvl3pPr>
            <a:lvl4pPr marL="1141960" indent="0" algn="ctr">
              <a:buNone/>
              <a:defRPr sz="1332"/>
            </a:lvl4pPr>
            <a:lvl5pPr marL="1522613" indent="0" algn="ctr">
              <a:buNone/>
              <a:defRPr sz="1332"/>
            </a:lvl5pPr>
            <a:lvl6pPr marL="1903266" indent="0" algn="ctr">
              <a:buNone/>
              <a:defRPr sz="1332"/>
            </a:lvl6pPr>
            <a:lvl7pPr marL="2283920" indent="0" algn="ctr">
              <a:buNone/>
              <a:defRPr sz="1332"/>
            </a:lvl7pPr>
            <a:lvl8pPr marL="2664573" indent="0" algn="ctr">
              <a:buNone/>
              <a:defRPr sz="1332"/>
            </a:lvl8pPr>
            <a:lvl9pPr marL="3045226" indent="0" algn="ctr">
              <a:buNone/>
              <a:defRPr sz="13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6577" y="7030663"/>
            <a:ext cx="1329272" cy="406540"/>
          </a:xfrm>
        </p:spPr>
        <p:txBody>
          <a:bodyPr/>
          <a:lstStyle>
            <a:lvl1pPr algn="l">
              <a:defRPr sz="999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8149" y="7030663"/>
            <a:ext cx="4264900" cy="406540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1576853"/>
            <a:ext cx="452894" cy="406540"/>
          </a:xfrm>
        </p:spPr>
        <p:txBody>
          <a:bodyPr/>
          <a:lstStyle>
            <a:lvl1pPr algn="r"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44274" y="1399910"/>
            <a:ext cx="0" cy="6235965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44274" y="1399910"/>
            <a:ext cx="0" cy="6235965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470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019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 title="Page Number Shape"/>
          <p:cNvSpPr/>
          <p:nvPr/>
        </p:nvSpPr>
        <p:spPr bwMode="auto">
          <a:xfrm>
            <a:off x="9697580" y="1551835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40" y="2863424"/>
            <a:ext cx="6907397" cy="3658888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6439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540" y="1551835"/>
            <a:ext cx="6994627" cy="912063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998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>
                <a:solidFill>
                  <a:schemeClr val="tx1">
                    <a:tint val="75000"/>
                  </a:schemeClr>
                </a:solidFill>
              </a:defRPr>
            </a:lvl2pPr>
            <a:lvl3pPr marL="761307" indent="0">
              <a:buNone/>
              <a:defRPr sz="1499">
                <a:solidFill>
                  <a:schemeClr val="tx1">
                    <a:tint val="75000"/>
                  </a:schemeClr>
                </a:solidFill>
              </a:defRPr>
            </a:lvl3pPr>
            <a:lvl4pPr marL="1141960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4pPr>
            <a:lvl5pPr marL="1522613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5pPr>
            <a:lvl6pPr marL="1903266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6pPr>
            <a:lvl7pPr marL="2283920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7pPr>
            <a:lvl8pPr marL="2664573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8pPr>
            <a:lvl9pPr marL="3045226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78965" y="7030662"/>
            <a:ext cx="1329272" cy="406540"/>
          </a:xfrm>
        </p:spPr>
        <p:txBody>
          <a:bodyPr/>
          <a:lstStyle>
            <a:lvl1pPr>
              <a:defRPr sz="999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1540" y="7030663"/>
            <a:ext cx="5395126" cy="406540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1804598"/>
            <a:ext cx="452894" cy="40654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" y="6878931"/>
            <a:ext cx="852893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6878931"/>
            <a:ext cx="852893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82523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0" pos="4842">
          <p15:clr>
            <a:srgbClr val="FBAE40"/>
          </p15:clr>
        </p15:guide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3952" y="601949"/>
            <a:ext cx="5202118" cy="277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3952" y="4133557"/>
            <a:ext cx="5202118" cy="276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42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5" y="621051"/>
            <a:ext cx="3189787" cy="5518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952" y="621364"/>
            <a:ext cx="5207194" cy="1016794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664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 b="1"/>
            </a:lvl2pPr>
            <a:lvl3pPr marL="761307" indent="0">
              <a:buNone/>
              <a:defRPr sz="1499" b="1"/>
            </a:lvl3pPr>
            <a:lvl4pPr marL="1141960" indent="0">
              <a:buNone/>
              <a:defRPr sz="1332" b="1"/>
            </a:lvl4pPr>
            <a:lvl5pPr marL="1522613" indent="0">
              <a:buNone/>
              <a:defRPr sz="1332" b="1"/>
            </a:lvl5pPr>
            <a:lvl6pPr marL="1903266" indent="0">
              <a:buNone/>
              <a:defRPr sz="1332" b="1"/>
            </a:lvl6pPr>
            <a:lvl7pPr marL="2283920" indent="0">
              <a:buNone/>
              <a:defRPr sz="1332" b="1"/>
            </a:lvl7pPr>
            <a:lvl8pPr marL="2664573" indent="0">
              <a:buNone/>
              <a:defRPr sz="1332" b="1"/>
            </a:lvl8pPr>
            <a:lvl9pPr marL="3045226" indent="0">
              <a:buNone/>
              <a:defRPr sz="1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3952" y="1699224"/>
            <a:ext cx="5207194" cy="1950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13952" y="4120598"/>
            <a:ext cx="5207194" cy="1017403"/>
          </a:xfrm>
        </p:spPr>
        <p:txBody>
          <a:bodyPr anchor="b">
            <a:normAutofit/>
          </a:bodyPr>
          <a:lstStyle>
            <a:lvl1pPr marL="0" indent="0">
              <a:buNone/>
              <a:defRPr sz="2664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80653" indent="0">
              <a:buNone/>
              <a:defRPr sz="1665" b="1"/>
            </a:lvl2pPr>
            <a:lvl3pPr marL="761307" indent="0">
              <a:buNone/>
              <a:defRPr sz="1499" b="1"/>
            </a:lvl3pPr>
            <a:lvl4pPr marL="1141960" indent="0">
              <a:buNone/>
              <a:defRPr sz="1332" b="1"/>
            </a:lvl4pPr>
            <a:lvl5pPr marL="1522613" indent="0">
              <a:buNone/>
              <a:defRPr sz="1332" b="1"/>
            </a:lvl5pPr>
            <a:lvl6pPr marL="1903266" indent="0">
              <a:buNone/>
              <a:defRPr sz="1332" b="1"/>
            </a:lvl6pPr>
            <a:lvl7pPr marL="2283920" indent="0">
              <a:buNone/>
              <a:defRPr sz="1332" b="1"/>
            </a:lvl7pPr>
            <a:lvl8pPr marL="2664573" indent="0">
              <a:buNone/>
              <a:defRPr sz="1332" b="1"/>
            </a:lvl8pPr>
            <a:lvl9pPr marL="3045226" indent="0">
              <a:buNone/>
              <a:defRPr sz="13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13952" y="5199066"/>
            <a:ext cx="5207194" cy="1950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0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5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5" y="618485"/>
            <a:ext cx="3195981" cy="2138916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3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3952" y="628136"/>
            <a:ext cx="5202118" cy="6260398"/>
          </a:xfrm>
        </p:spPr>
        <p:txBody>
          <a:bodyPr/>
          <a:lstStyle>
            <a:lvl1pPr>
              <a:lnSpc>
                <a:spcPct val="112000"/>
              </a:lnSpc>
              <a:defRPr sz="2220"/>
            </a:lvl1pPr>
            <a:lvl2pPr>
              <a:lnSpc>
                <a:spcPct val="112000"/>
              </a:lnSpc>
              <a:defRPr sz="1998"/>
            </a:lvl2pPr>
            <a:lvl3pPr>
              <a:lnSpc>
                <a:spcPct val="112000"/>
              </a:lnSpc>
              <a:defRPr sz="1776"/>
            </a:lvl3pPr>
            <a:lvl4pPr>
              <a:lnSpc>
                <a:spcPct val="112000"/>
              </a:lnSpc>
              <a:defRPr sz="1554"/>
            </a:lvl4pPr>
            <a:lvl5pPr>
              <a:lnSpc>
                <a:spcPct val="112000"/>
              </a:lnSpc>
              <a:defRPr sz="1554"/>
            </a:lvl5pPr>
            <a:lvl6pPr>
              <a:defRPr sz="1554"/>
            </a:lvl6pPr>
            <a:lvl7pPr>
              <a:defRPr sz="1554"/>
            </a:lvl7pPr>
            <a:lvl8pPr>
              <a:defRPr sz="1554"/>
            </a:lvl8pPr>
            <a:lvl9pPr>
              <a:defRPr sz="15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405" y="2918861"/>
            <a:ext cx="3195981" cy="3606984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332"/>
              </a:spcBef>
              <a:buNone/>
              <a:defRPr sz="1554"/>
            </a:lvl1pPr>
            <a:lvl2pPr marL="380653" indent="0">
              <a:buNone/>
              <a:defRPr sz="1166"/>
            </a:lvl2pPr>
            <a:lvl3pPr marL="761307" indent="0">
              <a:buNone/>
              <a:defRPr sz="999"/>
            </a:lvl3pPr>
            <a:lvl4pPr marL="1141960" indent="0">
              <a:buNone/>
              <a:defRPr sz="833"/>
            </a:lvl4pPr>
            <a:lvl5pPr marL="1522613" indent="0">
              <a:buNone/>
              <a:defRPr sz="833"/>
            </a:lvl5pPr>
            <a:lvl6pPr marL="1903266" indent="0">
              <a:buNone/>
              <a:defRPr sz="833"/>
            </a:lvl6pPr>
            <a:lvl7pPr marL="2283920" indent="0">
              <a:buNone/>
              <a:defRPr sz="833"/>
            </a:lvl7pPr>
            <a:lvl8pPr marL="2664573" indent="0">
              <a:buNone/>
              <a:defRPr sz="833"/>
            </a:lvl8pPr>
            <a:lvl9pPr marL="3045226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8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406" y="620471"/>
            <a:ext cx="3199806" cy="2136930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33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7392" y="2"/>
            <a:ext cx="5138678" cy="7635874"/>
          </a:xfrm>
        </p:spPr>
        <p:txBody>
          <a:bodyPr anchor="t"/>
          <a:lstStyle>
            <a:lvl1pPr marL="0" indent="0">
              <a:buNone/>
              <a:defRPr sz="2664"/>
            </a:lvl1pPr>
            <a:lvl2pPr marL="380653" indent="0">
              <a:buNone/>
              <a:defRPr sz="2331"/>
            </a:lvl2pPr>
            <a:lvl3pPr marL="761307" indent="0">
              <a:buNone/>
              <a:defRPr sz="1998"/>
            </a:lvl3pPr>
            <a:lvl4pPr marL="1141960" indent="0">
              <a:buNone/>
              <a:defRPr sz="1665"/>
            </a:lvl4pPr>
            <a:lvl5pPr marL="1522613" indent="0">
              <a:buNone/>
              <a:defRPr sz="1665"/>
            </a:lvl5pPr>
            <a:lvl6pPr marL="1903266" indent="0">
              <a:buNone/>
              <a:defRPr sz="1665"/>
            </a:lvl6pPr>
            <a:lvl7pPr marL="2283920" indent="0">
              <a:buNone/>
              <a:defRPr sz="1665"/>
            </a:lvl7pPr>
            <a:lvl8pPr marL="2664573" indent="0">
              <a:buNone/>
              <a:defRPr sz="1665"/>
            </a:lvl8pPr>
            <a:lvl9pPr marL="3045226" indent="0">
              <a:buNone/>
              <a:defRPr sz="166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406" y="2918859"/>
            <a:ext cx="3199806" cy="3604133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332"/>
              </a:spcBef>
              <a:buNone/>
              <a:defRPr sz="1554"/>
            </a:lvl1pPr>
            <a:lvl2pPr marL="380653" indent="0">
              <a:buNone/>
              <a:defRPr sz="1166"/>
            </a:lvl2pPr>
            <a:lvl3pPr marL="761307" indent="0">
              <a:buNone/>
              <a:defRPr sz="999"/>
            </a:lvl3pPr>
            <a:lvl4pPr marL="1141960" indent="0">
              <a:buNone/>
              <a:defRPr sz="833"/>
            </a:lvl4pPr>
            <a:lvl5pPr marL="1522613" indent="0">
              <a:buNone/>
              <a:defRPr sz="833"/>
            </a:lvl5pPr>
            <a:lvl6pPr marL="1903266" indent="0">
              <a:buNone/>
              <a:defRPr sz="833"/>
            </a:lvl6pPr>
            <a:lvl7pPr marL="2283920" indent="0">
              <a:buNone/>
              <a:defRPr sz="833"/>
            </a:lvl7pPr>
            <a:lvl8pPr marL="2664573" indent="0">
              <a:buNone/>
              <a:defRPr sz="833"/>
            </a:lvl8pPr>
            <a:lvl9pPr marL="3045226" indent="0">
              <a:buNone/>
              <a:defRPr sz="8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1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3953" y="712682"/>
            <a:ext cx="5202117" cy="621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4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Page Number Shape"/>
          <p:cNvSpPr/>
          <p:nvPr/>
        </p:nvSpPr>
        <p:spPr bwMode="auto">
          <a:xfrm>
            <a:off x="9697580" y="5990877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2729" y="715856"/>
            <a:ext cx="2036981" cy="52087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7846" y="715859"/>
            <a:ext cx="5886708" cy="52087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41716" y="6599423"/>
            <a:ext cx="3176066" cy="4065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41716" y="7032343"/>
            <a:ext cx="3176066" cy="406540"/>
          </a:xfrm>
        </p:spPr>
        <p:txBody>
          <a:bodyPr/>
          <a:lstStyle/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7580" y="6243640"/>
            <a:ext cx="452894" cy="406540"/>
          </a:xfrm>
        </p:spPr>
        <p:txBody>
          <a:bodyPr/>
          <a:lstStyle/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902940"/>
            <a:ext cx="854199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" y="6902940"/>
            <a:ext cx="8541993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442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4842">
          <p15:clr>
            <a:srgbClr val="FBAE40"/>
          </p15:clr>
        </p15:guide>
        <p15:guide id="1" pos="64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/>
          <a:srcRect b="49802"/>
          <a:stretch/>
        </p:blipFill>
        <p:spPr>
          <a:xfrm>
            <a:off x="0" y="-1"/>
            <a:ext cx="10150475" cy="38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b="-301"/>
          <a:stretch/>
        </p:blipFill>
        <p:spPr>
          <a:xfrm>
            <a:off x="0" y="0"/>
            <a:ext cx="10150475" cy="76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70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UST Marketing Brand Mark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02" y="296078"/>
            <a:ext cx="4140200" cy="129540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438871" y="1406916"/>
            <a:ext cx="4453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l" rtl="0"/>
            <a:r>
              <a:rPr lang="en-US" sz="2000" b="1" i="0" u="none" strike="noStrike" baseline="0" dirty="0">
                <a:solidFill>
                  <a:srgbClr val="141A37"/>
                </a:solidFill>
                <a:latin typeface="RopaSoftPro-Regular"/>
              </a:rPr>
              <a:t>Faculty of Management Sciences</a:t>
            </a:r>
          </a:p>
        </p:txBody>
      </p:sp>
    </p:spTree>
    <p:extLst>
      <p:ext uri="{BB962C8B-B14F-4D97-AF65-F5344CB8AC3E}">
        <p14:creationId xmlns:p14="http://schemas.microsoft.com/office/powerpoint/2010/main" val="370791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9697580" y="5990877"/>
            <a:ext cx="452895" cy="912063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4405" y="623160"/>
            <a:ext cx="3191927" cy="55142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3953" y="633613"/>
            <a:ext cx="5202117" cy="6296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4406" y="6602684"/>
            <a:ext cx="3176066" cy="40654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33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4406" y="7030663"/>
            <a:ext cx="3176066" cy="40654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21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ZA"/>
              <a:t>Maria Amwaalanga 212036424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7580" y="6243640"/>
            <a:ext cx="452894" cy="4065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1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B56E6150-8108-4B44-B0B0-BFDC52A0102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902940"/>
            <a:ext cx="374298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6902940"/>
            <a:ext cx="374298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28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hdr="0" ftr="0" dt="0"/>
  <p:txStyles>
    <p:titleStyle>
      <a:lvl1pPr algn="r" defTabSz="761307" rtl="0" eaLnBrk="1" latinLnBrk="0" hangingPunct="1">
        <a:lnSpc>
          <a:spcPct val="90000"/>
        </a:lnSpc>
        <a:spcBef>
          <a:spcPct val="0"/>
        </a:spcBef>
        <a:buNone/>
        <a:defRPr sz="4218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14673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222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61307" indent="-314673" algn="l" defTabSz="761307" rtl="0" eaLnBrk="1" latinLnBrk="0" hangingPunct="1">
        <a:lnSpc>
          <a:spcPct val="112000"/>
        </a:lnSpc>
        <a:spcBef>
          <a:spcPts val="999"/>
        </a:spcBef>
        <a:buFont typeface="Corbel" panose="020B0503020204020204" pitchFamily="34" charset="0"/>
        <a:buChar char="–"/>
        <a:defRPr sz="1998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8844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1776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776382" indent="-314673" algn="l" defTabSz="761307" rtl="0" eaLnBrk="1" latinLnBrk="0" hangingPunct="1">
        <a:lnSpc>
          <a:spcPct val="112000"/>
        </a:lnSpc>
        <a:spcBef>
          <a:spcPts val="999"/>
        </a:spcBef>
        <a:buFont typeface="Corbel" panose="020B0503020204020204" pitchFamily="34" charset="0"/>
        <a:buChar char="–"/>
        <a:defRPr sz="1554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283920" indent="-314673" algn="l" defTabSz="761307" rtl="0" eaLnBrk="1" latinLnBrk="0" hangingPunct="1">
        <a:lnSpc>
          <a:spcPct val="112000"/>
        </a:lnSpc>
        <a:spcBef>
          <a:spcPts val="999"/>
        </a:spcBef>
        <a:buFont typeface="Arial" panose="020B0604020202020204" pitchFamily="34" charset="0"/>
        <a:buChar char="•"/>
        <a:defRPr sz="1554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791457" indent="-314673" algn="l" defTabSz="761307" rtl="0" eaLnBrk="1" latinLnBrk="0" hangingPunct="1">
        <a:lnSpc>
          <a:spcPct val="112000"/>
        </a:lnSpc>
        <a:spcBef>
          <a:spcPts val="1082"/>
        </a:spcBef>
        <a:buFont typeface="Corbel" panose="020B0503020204020204" pitchFamily="34" charset="0"/>
        <a:buChar char="–"/>
        <a:defRPr sz="155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3298995" indent="-314673" algn="l" defTabSz="761307" rtl="0" eaLnBrk="1" latinLnBrk="0" hangingPunct="1">
        <a:lnSpc>
          <a:spcPct val="112000"/>
        </a:lnSpc>
        <a:spcBef>
          <a:spcPts val="1082"/>
        </a:spcBef>
        <a:buFont typeface="Arial" panose="020B0604020202020204" pitchFamily="34" charset="0"/>
        <a:buChar char="•"/>
        <a:defRPr sz="1554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806533" indent="-314673" algn="l" defTabSz="761307" rtl="0" eaLnBrk="1" latinLnBrk="0" hangingPunct="1">
        <a:lnSpc>
          <a:spcPct val="112000"/>
        </a:lnSpc>
        <a:spcBef>
          <a:spcPts val="1082"/>
        </a:spcBef>
        <a:buFont typeface="Corbel" panose="020B0503020204020204" pitchFamily="34" charset="0"/>
        <a:buChar char="–"/>
        <a:defRPr sz="1554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4314071" indent="-236005" algn="l" defTabSz="761307" rtl="0" eaLnBrk="1" latinLnBrk="0" hangingPunct="1">
        <a:lnSpc>
          <a:spcPct val="112000"/>
        </a:lnSpc>
        <a:spcBef>
          <a:spcPts val="1082"/>
        </a:spcBef>
        <a:buFont typeface="Arial" panose="020B0604020202020204" pitchFamily="34" charset="0"/>
        <a:buChar char="•"/>
        <a:defRPr sz="1166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1pPr>
      <a:lvl2pPr marL="38065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2pPr>
      <a:lvl3pPr marL="761307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14196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4pPr>
      <a:lvl5pPr marL="152261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5pPr>
      <a:lvl6pPr marL="1903266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83920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664573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3045226" algn="l" defTabSz="761307" rtl="0" eaLnBrk="1" latinLnBrk="0" hangingPunct="1"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2124">
          <p15:clr>
            <a:srgbClr val="F26B43"/>
          </p15:clr>
        </p15:guide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pos="7200">
          <p15:clr>
            <a:srgbClr val="F26B43"/>
          </p15:clr>
        </p15:guide>
        <p15:guide id="4" pos="3264">
          <p15:clr>
            <a:srgbClr val="F26B43"/>
          </p15:clr>
        </p15:guide>
        <p15:guide id="5" pos="360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pos="5400">
          <p15:clr>
            <a:srgbClr val="F26B43"/>
          </p15:clr>
        </p15:guide>
        <p15:guide id="8" pos="24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1034496" y="1554318"/>
            <a:ext cx="838200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 of windmills to generate 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and pump water for the communities in Namibia</a:t>
            </a:r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Mr. Pedro E Tjakwanda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b="1" dirty="0">
              <a:solidFill>
                <a:schemeClr val="bg1"/>
              </a:solidFill>
              <a:latin typeface="Calibri"/>
              <a:cs typeface="+mn-cs"/>
            </a:endParaRPr>
          </a:p>
        </p:txBody>
      </p:sp>
      <p:sp>
        <p:nvSpPr>
          <p:cNvPr id="5125" name="TextBox 6"/>
          <p:cNvSpPr txBox="1">
            <a:spLocks noChangeArrowheads="1"/>
          </p:cNvSpPr>
          <p:nvPr/>
        </p:nvSpPr>
        <p:spPr bwMode="auto">
          <a:xfrm>
            <a:off x="304211" y="4294188"/>
            <a:ext cx="943494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508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INFORMATION SEMINAR </a:t>
            </a:r>
          </a:p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5080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 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October </a:t>
            </a:r>
            <a:r>
              <a:rPr lang="pt-B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n-US" sz="1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6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350" y="4294188"/>
            <a:ext cx="2387600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641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80006" y="1157287"/>
            <a:ext cx="4172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Background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6" name="Rectangle 5"/>
          <p:cNvSpPr/>
          <p:nvPr/>
        </p:nvSpPr>
        <p:spPr>
          <a:xfrm rot="10800000" flipV="1">
            <a:off x="534514" y="3330168"/>
            <a:ext cx="4883792" cy="313932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in Namibia uses windmill to pull water from the ground. 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1. shows a current windmill used in Namibia. 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Namibia is at its pick in terms of increase in water bills. </a:t>
            </a: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18306" y="7165083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531" y="2247089"/>
            <a:ext cx="4517528" cy="479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9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15183" y="1264291"/>
            <a:ext cx="5574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Proposed  design </a:t>
            </a:r>
            <a:endParaRPr lang="en-US" sz="4400" b="1" i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72" y="1910622"/>
            <a:ext cx="9046724" cy="4774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3174" y="6959003"/>
            <a:ext cx="1024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07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307729" y="1216952"/>
            <a:ext cx="4934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 </a:t>
            </a:r>
            <a:endParaRPr lang="en-US" sz="4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6983C650-A260-4B51-A2A0-A098AAEAF88E}"/>
              </a:ext>
            </a:extLst>
          </p:cNvPr>
          <p:cNvSpPr/>
          <p:nvPr/>
        </p:nvSpPr>
        <p:spPr>
          <a:xfrm>
            <a:off x="390525" y="1891143"/>
            <a:ext cx="1627894" cy="1614057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Windmill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87BC7675-C022-4E0D-A7FF-83A61EB90922}"/>
              </a:ext>
            </a:extLst>
          </p:cNvPr>
          <p:cNvSpPr/>
          <p:nvPr/>
        </p:nvSpPr>
        <p:spPr>
          <a:xfrm>
            <a:off x="2884420" y="2174319"/>
            <a:ext cx="3172580" cy="156591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electricity (motor) while pulling water from the ground 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xmlns="" id="{CB3A9439-74AA-42FE-897D-7B2D51431FF7}"/>
              </a:ext>
            </a:extLst>
          </p:cNvPr>
          <p:cNvSpPr/>
          <p:nvPr/>
        </p:nvSpPr>
        <p:spPr>
          <a:xfrm>
            <a:off x="7053240" y="1905742"/>
            <a:ext cx="2917611" cy="151710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is than transferred to the tanks of which it will undergo purified using Prof. Kwaambwa purification system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7CE52B97-D6A8-422B-94B0-FB594D4A4F3E}"/>
              </a:ext>
            </a:extLst>
          </p:cNvPr>
          <p:cNvSpPr/>
          <p:nvPr/>
        </p:nvSpPr>
        <p:spPr>
          <a:xfrm>
            <a:off x="7130373" y="4228018"/>
            <a:ext cx="2840477" cy="190040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Purified water is than used for human consumption and agricultural activities  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xmlns="" id="{61A6194E-69FD-45FB-9284-6385A0324746}"/>
              </a:ext>
            </a:extLst>
          </p:cNvPr>
          <p:cNvSpPr/>
          <p:nvPr/>
        </p:nvSpPr>
        <p:spPr>
          <a:xfrm>
            <a:off x="3530056" y="6128122"/>
            <a:ext cx="2011546" cy="81915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 to the community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xmlns="" id="{1881831B-D496-4B41-B787-F1D50AC71A97}"/>
              </a:ext>
            </a:extLst>
          </p:cNvPr>
          <p:cNvSpPr/>
          <p:nvPr/>
        </p:nvSpPr>
        <p:spPr>
          <a:xfrm>
            <a:off x="3265120" y="4228018"/>
            <a:ext cx="2324100" cy="128174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produced will than be stepped up and/or down using a transformer </a:t>
            </a:r>
            <a:endParaRPr lang="en-GB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xmlns="" id="{40AFF1F0-E480-4D9D-AD85-B1D9C2106B22}"/>
              </a:ext>
            </a:extLst>
          </p:cNvPr>
          <p:cNvSpPr/>
          <p:nvPr/>
        </p:nvSpPr>
        <p:spPr>
          <a:xfrm>
            <a:off x="2014433" y="2538574"/>
            <a:ext cx="876300" cy="203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xmlns="" id="{D9D2D569-99A8-47C8-84D5-8F91E0BF86A4}"/>
              </a:ext>
            </a:extLst>
          </p:cNvPr>
          <p:cNvSpPr/>
          <p:nvPr/>
        </p:nvSpPr>
        <p:spPr>
          <a:xfrm rot="16200000">
            <a:off x="6425495" y="2171323"/>
            <a:ext cx="251437" cy="985940"/>
          </a:xfrm>
          <a:prstGeom prst="downArrow">
            <a:avLst>
              <a:gd name="adj1" fmla="val 50000"/>
              <a:gd name="adj2" fmla="val 5682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xmlns="" id="{A5D18D4E-ED2B-41E9-940F-1B11A8984916}"/>
              </a:ext>
            </a:extLst>
          </p:cNvPr>
          <p:cNvSpPr/>
          <p:nvPr/>
        </p:nvSpPr>
        <p:spPr>
          <a:xfrm rot="5400000">
            <a:off x="8225416" y="3709474"/>
            <a:ext cx="790575" cy="21731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Right 28">
            <a:extLst>
              <a:ext uri="{FF2B5EF4-FFF2-40B4-BE49-F238E27FC236}">
                <a16:creationId xmlns:a16="http://schemas.microsoft.com/office/drawing/2014/main" xmlns="" id="{A5D18D4E-ED2B-41E9-940F-1B11A8984916}"/>
              </a:ext>
            </a:extLst>
          </p:cNvPr>
          <p:cNvSpPr/>
          <p:nvPr/>
        </p:nvSpPr>
        <p:spPr>
          <a:xfrm rot="5400000">
            <a:off x="4171828" y="5710284"/>
            <a:ext cx="618359" cy="21731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row: Right 28">
            <a:extLst>
              <a:ext uri="{FF2B5EF4-FFF2-40B4-BE49-F238E27FC236}">
                <a16:creationId xmlns:a16="http://schemas.microsoft.com/office/drawing/2014/main" xmlns="" id="{A5D18D4E-ED2B-41E9-940F-1B11A8984916}"/>
              </a:ext>
            </a:extLst>
          </p:cNvPr>
          <p:cNvSpPr/>
          <p:nvPr/>
        </p:nvSpPr>
        <p:spPr>
          <a:xfrm rot="5400000">
            <a:off x="4191070" y="3883261"/>
            <a:ext cx="472198" cy="21731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22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6360" y="6412786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53546" y="1419934"/>
            <a:ext cx="417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problems  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xmlns="" id="{87BC7675-C022-4E0D-A7FF-83A61EB90922}"/>
              </a:ext>
            </a:extLst>
          </p:cNvPr>
          <p:cNvSpPr/>
          <p:nvPr/>
        </p:nvSpPr>
        <p:spPr>
          <a:xfrm>
            <a:off x="976360" y="2675106"/>
            <a:ext cx="8249056" cy="2947373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Overflow of water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much store energy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energy production </a:t>
            </a:r>
          </a:p>
          <a:p>
            <a:pPr algn="ctr"/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build in automatic control switch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rechargeable battery </a:t>
            </a:r>
          </a:p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9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8497" y="1863681"/>
            <a:ext cx="43697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to be done; </a:t>
            </a:r>
            <a:endParaRPr lang="en-US" sz="4400" b="1" i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32280" y="2833293"/>
            <a:ext cx="19432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endParaRPr lang="en-US" sz="4400" b="1" i="1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xmlns="" id="{87BC7675-C022-4E0D-A7FF-83A61EB90922}"/>
              </a:ext>
            </a:extLst>
          </p:cNvPr>
          <p:cNvSpPr/>
          <p:nvPr/>
        </p:nvSpPr>
        <p:spPr>
          <a:xfrm>
            <a:off x="976360" y="3077783"/>
            <a:ext cx="8249056" cy="204630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Geology of the targeted communities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Locations of targeted communities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 assessment </a:t>
            </a:r>
          </a:p>
          <a:p>
            <a:pPr algn="ctr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30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39643" y="1268067"/>
            <a:ext cx="417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 initiative? </a:t>
            </a:r>
            <a:r>
              <a:rPr lang="en-US" sz="3600" b="1" dirty="0" smtClean="0">
                <a:solidFill>
                  <a:srgbClr val="FFFF00"/>
                </a:solidFill>
              </a:rPr>
              <a:t> </a:t>
            </a:r>
            <a:endParaRPr lang="en-US" sz="4400" b="1" i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xmlns="" id="{87BC7675-C022-4E0D-A7FF-83A61EB90922}"/>
              </a:ext>
            </a:extLst>
          </p:cNvPr>
          <p:cNvSpPr/>
          <p:nvPr/>
        </p:nvSpPr>
        <p:spPr>
          <a:xfrm>
            <a:off x="3493698" y="3077783"/>
            <a:ext cx="5731718" cy="204630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Invention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progress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</a:t>
            </a:r>
          </a:p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40" y="3077783"/>
            <a:ext cx="1749704" cy="204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2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39643" y="3424671"/>
            <a:ext cx="417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 </a:t>
            </a:r>
            <a:r>
              <a:rPr lang="en-US" sz="3600" b="1" dirty="0" smtClean="0">
                <a:solidFill>
                  <a:srgbClr val="FFFF00"/>
                </a:solidFill>
              </a:rPr>
              <a:t> </a:t>
            </a:r>
            <a:endParaRPr lang="en-US" sz="44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28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algn="ctr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TM10001103[[fn=Headlines]]</Template>
  <TotalTime>29732</TotalTime>
  <Words>245</Words>
  <Application>Microsoft Office PowerPoint</Application>
  <PresentationFormat>Custom</PresentationFormat>
  <Paragraphs>65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Century Schoolbook</vt:lpstr>
      <vt:lpstr>Corbel</vt:lpstr>
      <vt:lpstr>RopaSoftPro-Regular</vt:lpstr>
      <vt:lpstr>Times New Roman</vt:lpstr>
      <vt:lpstr>Wingdings</vt:lpstr>
      <vt:lpstr>Headlines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CDP</dc:creator>
  <cp:lastModifiedBy>User</cp:lastModifiedBy>
  <cp:revision>638</cp:revision>
  <dcterms:created xsi:type="dcterms:W3CDTF">2015-11-09T03:14:54Z</dcterms:created>
  <dcterms:modified xsi:type="dcterms:W3CDTF">2022-10-03T19:44:13Z</dcterms:modified>
</cp:coreProperties>
</file>