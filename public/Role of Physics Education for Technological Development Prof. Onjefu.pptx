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10/4/2022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789610"/>
            <a:ext cx="8915399" cy="1907179"/>
          </a:xfrm>
        </p:spPr>
        <p:txBody>
          <a:bodyPr>
            <a:noAutofit/>
          </a:bodyPr>
          <a:lstStyle/>
          <a:p>
            <a:r>
              <a:rPr lang="en-US" sz="3200" b="1" dirty="0" smtClean="0"/>
              <a:t>Role of Physics Education for Technological Development for Employment and Self Productivity in Namibia</a:t>
            </a:r>
            <a:endParaRPr lang="en-US" sz="3200" b="1" dirty="0"/>
          </a:p>
        </p:txBody>
      </p:sp>
      <p:sp>
        <p:nvSpPr>
          <p:cNvPr id="3" name="Subtitle 2"/>
          <p:cNvSpPr>
            <a:spLocks noGrp="1"/>
          </p:cNvSpPr>
          <p:nvPr>
            <p:ph type="subTitle" idx="1"/>
          </p:nvPr>
        </p:nvSpPr>
        <p:spPr>
          <a:xfrm>
            <a:off x="2589213" y="3879669"/>
            <a:ext cx="8915399" cy="2023993"/>
          </a:xfrm>
        </p:spPr>
        <p:txBody>
          <a:bodyPr>
            <a:normAutofit/>
          </a:bodyPr>
          <a:lstStyle/>
          <a:p>
            <a:pPr algn="ctr"/>
            <a:r>
              <a:rPr lang="en-US" sz="2800" b="1" dirty="0" smtClean="0"/>
              <a:t>Presenter: </a:t>
            </a:r>
          </a:p>
          <a:p>
            <a:pPr algn="ctr"/>
            <a:endParaRPr lang="en-US" b="1" dirty="0" smtClean="0"/>
          </a:p>
          <a:p>
            <a:pPr algn="ctr"/>
            <a:r>
              <a:rPr lang="en-US" sz="3200" b="1" dirty="0" smtClean="0"/>
              <a:t>Prof. Onjefu </a:t>
            </a:r>
            <a:r>
              <a:rPr lang="en-US" sz="3200" b="1" dirty="0" smtClean="0"/>
              <a:t>Sylvanus (NUST)</a:t>
            </a:r>
            <a:endParaRPr lang="en-US" sz="3200" b="1" dirty="0" smtClean="0"/>
          </a:p>
          <a:p>
            <a:pPr algn="ctr"/>
            <a:r>
              <a:rPr lang="en-US" sz="1700" b="1" dirty="0" smtClean="0"/>
              <a:t>BSc. Physics, MSc. Environmental Physics, PhD. Environmental Radiation </a:t>
            </a:r>
            <a:r>
              <a:rPr lang="en-US" sz="1700" b="1" dirty="0" smtClean="0"/>
              <a:t>Physics</a:t>
            </a:r>
            <a:endParaRPr lang="en-US" sz="1700" b="1" dirty="0" smtClean="0"/>
          </a:p>
        </p:txBody>
      </p:sp>
    </p:spTree>
    <p:extLst>
      <p:ext uri="{BB962C8B-B14F-4D97-AF65-F5344CB8AC3E}">
        <p14:creationId xmlns:p14="http://schemas.microsoft.com/office/powerpoint/2010/main" val="105450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Physics?</a:t>
            </a:r>
            <a:endParaRPr lang="en-US" dirty="0"/>
          </a:p>
        </p:txBody>
      </p:sp>
      <p:sp>
        <p:nvSpPr>
          <p:cNvPr id="4" name="Content Placeholder 3"/>
          <p:cNvSpPr>
            <a:spLocks noGrp="1"/>
          </p:cNvSpPr>
          <p:nvPr>
            <p:ph idx="1"/>
          </p:nvPr>
        </p:nvSpPr>
        <p:spPr/>
        <p:txBody>
          <a:bodyPr/>
          <a:lstStyle/>
          <a:p>
            <a:pPr>
              <a:buFont typeface="Wingdings" panose="05000000000000000000" pitchFamily="2" charset="2"/>
              <a:buChar char="Ø"/>
            </a:pPr>
            <a:r>
              <a:rPr lang="en-US" dirty="0" smtClean="0"/>
              <a:t>Physics is the father of Physical Sciences</a:t>
            </a:r>
          </a:p>
          <a:p>
            <a:pPr>
              <a:buFont typeface="Wingdings" panose="05000000000000000000" pitchFamily="2" charset="2"/>
              <a:buChar char="Ø"/>
            </a:pPr>
            <a:r>
              <a:rPr lang="en-US" dirty="0" smtClean="0"/>
              <a:t>These Physical Sciences make up 6 </a:t>
            </a:r>
          </a:p>
          <a:p>
            <a:pPr marL="0" indent="0">
              <a:buNone/>
            </a:pPr>
            <a:r>
              <a:rPr lang="en-US" dirty="0"/>
              <a:t> </a:t>
            </a:r>
            <a:r>
              <a:rPr lang="en-US" dirty="0" smtClean="0"/>
              <a:t>     department;</a:t>
            </a:r>
          </a:p>
          <a:p>
            <a:pPr>
              <a:buFont typeface="Wingdings" panose="05000000000000000000" pitchFamily="2" charset="2"/>
              <a:buChar char="§"/>
            </a:pPr>
            <a:r>
              <a:rPr lang="en-US" dirty="0" smtClean="0"/>
              <a:t>Physics</a:t>
            </a:r>
          </a:p>
          <a:p>
            <a:pPr>
              <a:buFont typeface="Wingdings" panose="05000000000000000000" pitchFamily="2" charset="2"/>
              <a:buChar char="§"/>
            </a:pPr>
            <a:r>
              <a:rPr lang="en-US" dirty="0" smtClean="0"/>
              <a:t>Chemistry</a:t>
            </a:r>
          </a:p>
          <a:p>
            <a:pPr>
              <a:buFont typeface="Wingdings" panose="05000000000000000000" pitchFamily="2" charset="2"/>
              <a:buChar char="§"/>
            </a:pPr>
            <a:r>
              <a:rPr lang="en-US" dirty="0" smtClean="0"/>
              <a:t>Mathematics</a:t>
            </a:r>
          </a:p>
          <a:p>
            <a:pPr>
              <a:buFont typeface="Wingdings" panose="05000000000000000000" pitchFamily="2" charset="2"/>
              <a:buChar char="§"/>
            </a:pPr>
            <a:r>
              <a:rPr lang="en-US" dirty="0" smtClean="0"/>
              <a:t>Computer Science</a:t>
            </a:r>
          </a:p>
          <a:p>
            <a:pPr>
              <a:buFont typeface="Wingdings" panose="05000000000000000000" pitchFamily="2" charset="2"/>
              <a:buChar char="§"/>
            </a:pPr>
            <a:r>
              <a:rPr lang="en-US" dirty="0" smtClean="0"/>
              <a:t>Geology</a:t>
            </a:r>
          </a:p>
          <a:p>
            <a:pPr>
              <a:buFont typeface="Wingdings" panose="05000000000000000000" pitchFamily="2" charset="2"/>
              <a:buChar char="§"/>
            </a:pPr>
            <a:r>
              <a:rPr lang="en-US" dirty="0" smtClean="0"/>
              <a:t>Statistics</a:t>
            </a:r>
            <a:endParaRPr lang="en-US" dirty="0"/>
          </a:p>
        </p:txBody>
      </p:sp>
      <p:pic>
        <p:nvPicPr>
          <p:cNvPr id="6" name="Picture 2" descr="Hardworking Business Man - Metaphor Stock Photo - Image of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0149" y="2133600"/>
            <a:ext cx="4036421" cy="4006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026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99741"/>
          </a:xfrm>
        </p:spPr>
        <p:txBody>
          <a:bodyPr/>
          <a:lstStyle/>
          <a:p>
            <a:r>
              <a:rPr lang="en-US" dirty="0" smtClean="0"/>
              <a:t>What is Physics Cont.</a:t>
            </a:r>
            <a:endParaRPr lang="en-US" dirty="0"/>
          </a:p>
        </p:txBody>
      </p:sp>
      <p:sp>
        <p:nvSpPr>
          <p:cNvPr id="3" name="Content Placeholder 2"/>
          <p:cNvSpPr>
            <a:spLocks noGrp="1"/>
          </p:cNvSpPr>
          <p:nvPr>
            <p:ph idx="1"/>
          </p:nvPr>
        </p:nvSpPr>
        <p:spPr>
          <a:xfrm>
            <a:off x="1580606" y="1423851"/>
            <a:ext cx="10611394" cy="5159829"/>
          </a:xfrm>
        </p:spPr>
        <p:txBody>
          <a:bodyPr/>
          <a:lstStyle/>
          <a:p>
            <a:pPr>
              <a:buFont typeface="Wingdings" panose="05000000000000000000" pitchFamily="2" charset="2"/>
              <a:buChar char="Ø"/>
            </a:pPr>
            <a:r>
              <a:rPr lang="en-US" dirty="0" smtClean="0"/>
              <a:t>Physics investigates the physical laws governing </a:t>
            </a:r>
          </a:p>
          <a:p>
            <a:pPr marL="0" indent="0">
              <a:buNone/>
            </a:pPr>
            <a:r>
              <a:rPr lang="en-US" dirty="0" smtClean="0"/>
              <a:t>     the universe through the study of the interaction of </a:t>
            </a:r>
          </a:p>
          <a:p>
            <a:pPr marL="0" indent="0">
              <a:buNone/>
            </a:pPr>
            <a:r>
              <a:rPr lang="en-US" dirty="0"/>
              <a:t> </a:t>
            </a:r>
            <a:r>
              <a:rPr lang="en-US" dirty="0" smtClean="0"/>
              <a:t>    matter and energy</a:t>
            </a:r>
          </a:p>
          <a:p>
            <a:pPr marL="0" indent="0">
              <a:buNone/>
            </a:pPr>
            <a:endParaRPr lang="en-US" dirty="0" smtClean="0"/>
          </a:p>
          <a:p>
            <a:pPr>
              <a:buFont typeface="Wingdings" panose="05000000000000000000" pitchFamily="2" charset="2"/>
              <a:buChar char="Ø"/>
            </a:pPr>
            <a:r>
              <a:rPr lang="en-US" dirty="0" smtClean="0"/>
              <a:t>It also deals with the applications in solving practical </a:t>
            </a:r>
          </a:p>
          <a:p>
            <a:pPr marL="0" indent="0">
              <a:buNone/>
            </a:pPr>
            <a:r>
              <a:rPr lang="en-US" dirty="0"/>
              <a:t> </a:t>
            </a:r>
            <a:r>
              <a:rPr lang="en-US" dirty="0" smtClean="0"/>
              <a:t>     and industrial problems</a:t>
            </a:r>
          </a:p>
          <a:p>
            <a:pPr marL="0" indent="0">
              <a:buNone/>
            </a:pPr>
            <a:endParaRPr lang="en-US" dirty="0" smtClean="0"/>
          </a:p>
          <a:p>
            <a:pPr marL="0" indent="0">
              <a:buNone/>
            </a:pPr>
            <a:endParaRPr lang="en-US" dirty="0"/>
          </a:p>
        </p:txBody>
      </p:sp>
      <p:pic>
        <p:nvPicPr>
          <p:cNvPr id="7" name="Picture 2" descr="Industry Photos, Download Free Industry Stock Photos &amp; HD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8548" y="3497500"/>
            <a:ext cx="5156064" cy="3177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177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study Physics?</a:t>
            </a:r>
            <a:endParaRPr lang="en-US" dirty="0"/>
          </a:p>
        </p:txBody>
      </p:sp>
      <p:sp>
        <p:nvSpPr>
          <p:cNvPr id="3" name="Content Placeholder 2"/>
          <p:cNvSpPr>
            <a:spLocks noGrp="1"/>
          </p:cNvSpPr>
          <p:nvPr>
            <p:ph idx="1"/>
          </p:nvPr>
        </p:nvSpPr>
        <p:spPr>
          <a:xfrm>
            <a:off x="2589212" y="2133599"/>
            <a:ext cx="8915400" cy="4528457"/>
          </a:xfrm>
        </p:spPr>
        <p:txBody>
          <a:bodyPr/>
          <a:lstStyle/>
          <a:p>
            <a:pPr>
              <a:buFont typeface="Wingdings" panose="05000000000000000000" pitchFamily="2" charset="2"/>
              <a:buChar char="Ø"/>
            </a:pPr>
            <a:r>
              <a:rPr lang="en-US" dirty="0" smtClean="0"/>
              <a:t>Physics is the core of the sciences                    </a:t>
            </a:r>
          </a:p>
          <a:p>
            <a:pPr marL="0" indent="0">
              <a:buNone/>
            </a:pPr>
            <a:endParaRPr lang="en-US" dirty="0" smtClean="0"/>
          </a:p>
          <a:p>
            <a:pPr>
              <a:buFont typeface="Wingdings" panose="05000000000000000000" pitchFamily="2" charset="2"/>
              <a:buChar char="Ø"/>
            </a:pPr>
            <a:r>
              <a:rPr lang="en-US" dirty="0" smtClean="0"/>
              <a:t>It is the bedrock of any nation’s economic </a:t>
            </a:r>
          </a:p>
          <a:p>
            <a:pPr marL="0" indent="0">
              <a:buNone/>
            </a:pPr>
            <a:r>
              <a:rPr lang="en-US" dirty="0"/>
              <a:t> </a:t>
            </a:r>
            <a:r>
              <a:rPr lang="en-US" dirty="0" smtClean="0"/>
              <a:t>    emancipation.</a:t>
            </a:r>
          </a:p>
          <a:p>
            <a:pPr marL="0" indent="0">
              <a:buNone/>
            </a:pPr>
            <a:endParaRPr lang="en-US" dirty="0" smtClean="0"/>
          </a:p>
          <a:p>
            <a:pPr>
              <a:buFont typeface="Wingdings" panose="05000000000000000000" pitchFamily="2" charset="2"/>
              <a:buChar char="Ø"/>
            </a:pPr>
            <a:r>
              <a:rPr lang="en-US" dirty="0" smtClean="0"/>
              <a:t>It is the cornerstone for engineering, medicine,</a:t>
            </a:r>
          </a:p>
          <a:p>
            <a:pPr marL="0" indent="0">
              <a:buNone/>
            </a:pPr>
            <a:r>
              <a:rPr lang="en-US" dirty="0"/>
              <a:t> </a:t>
            </a:r>
            <a:r>
              <a:rPr lang="en-US" dirty="0" smtClean="0"/>
              <a:t>    pharmacy, agriculture</a:t>
            </a:r>
          </a:p>
          <a:p>
            <a:pPr marL="0" indent="0">
              <a:buNone/>
            </a:pPr>
            <a:endParaRPr lang="en-US" dirty="0" smtClean="0"/>
          </a:p>
          <a:p>
            <a:pPr>
              <a:buFont typeface="Wingdings" panose="05000000000000000000" pitchFamily="2" charset="2"/>
              <a:buChar char="Ø"/>
            </a:pPr>
            <a:r>
              <a:rPr lang="en-US" dirty="0" smtClean="0"/>
              <a:t>With physics a nation becomes a super power</a:t>
            </a:r>
          </a:p>
          <a:p>
            <a:pPr marL="0" indent="0">
              <a:buNone/>
            </a:pPr>
            <a:endParaRPr lang="en-US" dirty="0" smtClean="0"/>
          </a:p>
        </p:txBody>
      </p:sp>
      <p:pic>
        <p:nvPicPr>
          <p:cNvPr id="7" name="Picture 2" descr="1,513,000+ Technology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6538" y="2133598"/>
            <a:ext cx="3631474" cy="4071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95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Contribution of Physics to Society</a:t>
            </a:r>
            <a:endParaRPr lang="en-US" dirty="0"/>
          </a:p>
        </p:txBody>
      </p:sp>
      <p:sp>
        <p:nvSpPr>
          <p:cNvPr id="3" name="Content Placeholder 2"/>
          <p:cNvSpPr>
            <a:spLocks noGrp="1"/>
          </p:cNvSpPr>
          <p:nvPr>
            <p:ph idx="1"/>
          </p:nvPr>
        </p:nvSpPr>
        <p:spPr>
          <a:xfrm>
            <a:off x="2589211" y="2133600"/>
            <a:ext cx="9350239" cy="4267200"/>
          </a:xfrm>
        </p:spPr>
        <p:txBody>
          <a:bodyPr>
            <a:normAutofit lnSpcReduction="10000"/>
          </a:bodyPr>
          <a:lstStyle/>
          <a:p>
            <a:pPr>
              <a:buFont typeface="Wingdings" panose="05000000000000000000" pitchFamily="2" charset="2"/>
              <a:buChar char="Ø"/>
            </a:pPr>
            <a:r>
              <a:rPr lang="en-US" dirty="0" smtClean="0"/>
              <a:t>Physics plays a vital role in the development  </a:t>
            </a:r>
          </a:p>
          <a:p>
            <a:pPr marL="0" indent="0">
              <a:buNone/>
            </a:pPr>
            <a:r>
              <a:rPr lang="en-US" dirty="0"/>
              <a:t> </a:t>
            </a:r>
            <a:r>
              <a:rPr lang="en-US" dirty="0" smtClean="0"/>
              <a:t>    of any society for example;</a:t>
            </a:r>
          </a:p>
          <a:p>
            <a:pPr marL="0" indent="0">
              <a:buNone/>
            </a:pPr>
            <a:endParaRPr lang="en-US" dirty="0" smtClean="0"/>
          </a:p>
          <a:p>
            <a:pPr>
              <a:buFont typeface="Wingdings" panose="05000000000000000000" pitchFamily="2" charset="2"/>
              <a:buChar char="v"/>
            </a:pPr>
            <a:r>
              <a:rPr lang="en-US" b="1" dirty="0" smtClean="0"/>
              <a:t>In electronics development of </a:t>
            </a:r>
          </a:p>
          <a:p>
            <a:pPr marL="0" indent="0">
              <a:buNone/>
            </a:pPr>
            <a:endParaRPr lang="en-US" b="1" dirty="0" smtClean="0"/>
          </a:p>
          <a:p>
            <a:pPr>
              <a:buFont typeface="Wingdings" panose="05000000000000000000" pitchFamily="2" charset="2"/>
              <a:buChar char="ü"/>
            </a:pPr>
            <a:r>
              <a:rPr lang="en-US" dirty="0" smtClean="0"/>
              <a:t>transistors</a:t>
            </a:r>
          </a:p>
          <a:p>
            <a:pPr>
              <a:buFont typeface="Wingdings" panose="05000000000000000000" pitchFamily="2" charset="2"/>
              <a:buChar char="ü"/>
            </a:pPr>
            <a:r>
              <a:rPr lang="en-US" dirty="0" smtClean="0"/>
              <a:t>Diodes</a:t>
            </a:r>
          </a:p>
          <a:p>
            <a:pPr>
              <a:buFont typeface="Wingdings" panose="05000000000000000000" pitchFamily="2" charset="2"/>
              <a:buChar char="ü"/>
            </a:pPr>
            <a:r>
              <a:rPr lang="en-US" dirty="0" smtClean="0"/>
              <a:t>Integrated circuit </a:t>
            </a:r>
          </a:p>
          <a:p>
            <a:pPr marL="0" indent="0">
              <a:buNone/>
            </a:pPr>
            <a:endParaRPr lang="en-US" dirty="0" smtClean="0"/>
          </a:p>
          <a:p>
            <a:pPr>
              <a:buFont typeface="Wingdings" panose="05000000000000000000" pitchFamily="2" charset="2"/>
              <a:buChar char="Ø"/>
            </a:pPr>
            <a:r>
              <a:rPr lang="en-US" dirty="0" smtClean="0"/>
              <a:t>All these allows for the development of radio </a:t>
            </a:r>
          </a:p>
          <a:p>
            <a:pPr marL="0" indent="0">
              <a:buNone/>
            </a:pPr>
            <a:r>
              <a:rPr lang="en-US" dirty="0"/>
              <a:t> </a:t>
            </a:r>
            <a:r>
              <a:rPr lang="en-US" dirty="0" smtClean="0"/>
              <a:t>    transmitters, televisions, radio tapes </a:t>
            </a:r>
            <a:endParaRPr lang="en-US" dirty="0"/>
          </a:p>
        </p:txBody>
      </p:sp>
      <p:pic>
        <p:nvPicPr>
          <p:cNvPr id="4" name="Picture 2" descr="Computer motherbo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1040" y="2133600"/>
            <a:ext cx="3618410" cy="3888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800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Contribution of Physics to </a:t>
            </a:r>
            <a:r>
              <a:rPr lang="en-US" sz="2800" dirty="0" smtClean="0"/>
              <a:t>Society Cont.</a:t>
            </a:r>
            <a:endParaRPr lang="en-US" sz="2800" dirty="0"/>
          </a:p>
        </p:txBody>
      </p:sp>
      <p:sp>
        <p:nvSpPr>
          <p:cNvPr id="4" name="Content Placeholder 3"/>
          <p:cNvSpPr>
            <a:spLocks noGrp="1"/>
          </p:cNvSpPr>
          <p:nvPr>
            <p:ph idx="1"/>
          </p:nvPr>
        </p:nvSpPr>
        <p:spPr>
          <a:xfrm>
            <a:off x="2589212" y="1489166"/>
            <a:ext cx="8915400" cy="4422056"/>
          </a:xfrm>
        </p:spPr>
        <p:txBody>
          <a:bodyPr/>
          <a:lstStyle/>
          <a:p>
            <a:pPr>
              <a:buFont typeface="Wingdings" panose="05000000000000000000" pitchFamily="2" charset="2"/>
              <a:buChar char="Ø"/>
            </a:pPr>
            <a:r>
              <a:rPr lang="en-US" b="1" dirty="0" smtClean="0"/>
              <a:t>In Health care                                                     </a:t>
            </a:r>
          </a:p>
          <a:p>
            <a:pPr marL="0" indent="0">
              <a:buNone/>
            </a:pPr>
            <a:endParaRPr lang="en-US" b="1" dirty="0" smtClean="0"/>
          </a:p>
          <a:p>
            <a:pPr>
              <a:buFont typeface="Wingdings" panose="05000000000000000000" pitchFamily="2" charset="2"/>
              <a:buChar char="ü"/>
            </a:pPr>
            <a:r>
              <a:rPr lang="en-US" b="1" dirty="0" smtClean="0"/>
              <a:t>X-rays</a:t>
            </a:r>
          </a:p>
          <a:p>
            <a:pPr marL="0" indent="0">
              <a:buNone/>
            </a:pPr>
            <a:endParaRPr lang="en-US" b="1" dirty="0" smtClean="0"/>
          </a:p>
          <a:p>
            <a:pPr>
              <a:buFont typeface="Wingdings" panose="05000000000000000000" pitchFamily="2" charset="2"/>
              <a:buChar char="ü"/>
            </a:pPr>
            <a:r>
              <a:rPr lang="en-US" b="1" dirty="0" smtClean="0"/>
              <a:t>Scan machines </a:t>
            </a:r>
          </a:p>
          <a:p>
            <a:pPr marL="0" indent="0">
              <a:buNone/>
            </a:pPr>
            <a:endParaRPr lang="en-US" b="1" dirty="0" smtClean="0"/>
          </a:p>
          <a:p>
            <a:pPr>
              <a:buFont typeface="Wingdings" panose="05000000000000000000" pitchFamily="2" charset="2"/>
              <a:buChar char="ü"/>
            </a:pPr>
            <a:r>
              <a:rPr lang="en-US" b="1" dirty="0" smtClean="0"/>
              <a:t>Treatment of cancers </a:t>
            </a:r>
          </a:p>
          <a:p>
            <a:pPr marL="0" indent="0">
              <a:buNone/>
            </a:pPr>
            <a:r>
              <a:rPr lang="en-US" b="1" dirty="0" smtClean="0"/>
              <a:t>(Medical Physicist &amp; Nuclear medicine)</a:t>
            </a:r>
            <a:endParaRPr lang="en-US" b="1" dirty="0"/>
          </a:p>
        </p:txBody>
      </p:sp>
      <p:pic>
        <p:nvPicPr>
          <p:cNvPr id="7" name="Picture 6" descr="C:\Users\sonjefu\AppData\Local\Microsoft\Windows\INetCache\Content.MSO\EBBA8CD6.tmp"/>
          <p:cNvPicPr/>
          <p:nvPr/>
        </p:nvPicPr>
        <p:blipFill>
          <a:blip r:embed="rId2">
            <a:extLst>
              <a:ext uri="{28A0092B-C50C-407E-A947-70E740481C1C}">
                <a14:useLocalDpi xmlns:a14="http://schemas.microsoft.com/office/drawing/2010/main" val="0"/>
              </a:ext>
            </a:extLst>
          </a:blip>
          <a:srcRect/>
          <a:stretch>
            <a:fillRect/>
          </a:stretch>
        </p:blipFill>
        <p:spPr bwMode="auto">
          <a:xfrm>
            <a:off x="7184571" y="1556796"/>
            <a:ext cx="4206240" cy="3171957"/>
          </a:xfrm>
          <a:prstGeom prst="rect">
            <a:avLst/>
          </a:prstGeom>
          <a:noFill/>
          <a:ln>
            <a:noFill/>
          </a:ln>
        </p:spPr>
      </p:pic>
    </p:spTree>
    <p:extLst>
      <p:ext uri="{BB962C8B-B14F-4D97-AF65-F5344CB8AC3E}">
        <p14:creationId xmlns:p14="http://schemas.microsoft.com/office/powerpoint/2010/main" val="3015372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Contribution of Physics to Society Cont.</a:t>
            </a:r>
          </a:p>
        </p:txBody>
      </p:sp>
      <p:sp>
        <p:nvSpPr>
          <p:cNvPr id="6" name="AutoShape 6" descr="Radiologists With Patient In X-ray Room Stock Photo"/>
          <p:cNvSpPr>
            <a:spLocks noGrp="1" noChangeAspect="1" noChangeArrowheads="1"/>
          </p:cNvSpPr>
          <p:nvPr>
            <p:ph idx="1"/>
          </p:nvPr>
        </p:nvSpPr>
        <p:spPr bwMode="auto">
          <a:xfrm>
            <a:off x="2589212" y="1672045"/>
            <a:ext cx="9206548" cy="446749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Char char="Ø"/>
            </a:pPr>
            <a:r>
              <a:rPr lang="en-US" b="1" dirty="0"/>
              <a:t>In </a:t>
            </a:r>
            <a:r>
              <a:rPr lang="en-US" b="1" dirty="0" smtClean="0"/>
              <a:t>Mining                                                   </a:t>
            </a:r>
          </a:p>
          <a:p>
            <a:pPr marL="0" indent="0">
              <a:buNone/>
            </a:pPr>
            <a:endParaRPr lang="en-US" b="1" dirty="0" smtClean="0"/>
          </a:p>
          <a:p>
            <a:pPr>
              <a:buFont typeface="Wingdings" panose="05000000000000000000" pitchFamily="2" charset="2"/>
              <a:buChar char="ü"/>
            </a:pPr>
            <a:r>
              <a:rPr lang="en-US" b="1" dirty="0" smtClean="0"/>
              <a:t>Geophysics</a:t>
            </a:r>
          </a:p>
          <a:p>
            <a:pPr marL="0" indent="0">
              <a:buNone/>
            </a:pPr>
            <a:endParaRPr lang="en-US" b="1" dirty="0" smtClean="0"/>
          </a:p>
          <a:p>
            <a:pPr>
              <a:buFont typeface="Wingdings" panose="05000000000000000000" pitchFamily="2" charset="2"/>
              <a:buChar char="ü"/>
            </a:pPr>
            <a:r>
              <a:rPr lang="en-US" b="1" dirty="0" smtClean="0"/>
              <a:t>Petro Physics   </a:t>
            </a:r>
          </a:p>
          <a:p>
            <a:pPr marL="0" indent="0">
              <a:buNone/>
            </a:pPr>
            <a:endParaRPr lang="en-US" b="1" dirty="0" smtClean="0"/>
          </a:p>
          <a:p>
            <a:pPr>
              <a:buFont typeface="Wingdings" panose="05000000000000000000" pitchFamily="2" charset="2"/>
              <a:buChar char="ü"/>
            </a:pPr>
            <a:r>
              <a:rPr lang="en-US" b="1" dirty="0"/>
              <a:t>Radiation safety Officer (RSO)</a:t>
            </a:r>
          </a:p>
          <a:p>
            <a:pPr marL="0" indent="0">
              <a:buNone/>
            </a:pPr>
            <a:r>
              <a:rPr lang="en-US" b="1" dirty="0" smtClean="0"/>
              <a:t>                                            </a:t>
            </a:r>
            <a:endParaRPr lang="en-US" b="1" dirty="0"/>
          </a:p>
          <a:p>
            <a:pPr>
              <a:buFont typeface="Wingdings" panose="05000000000000000000" pitchFamily="2" charset="2"/>
              <a:buChar char="Ø"/>
            </a:pPr>
            <a:endParaRPr lang="en-US" dirty="0"/>
          </a:p>
        </p:txBody>
      </p:sp>
      <p:pic>
        <p:nvPicPr>
          <p:cNvPr id="11" name="Picture 10" descr="Training - Radiation Services WA"/>
          <p:cNvPicPr/>
          <p:nvPr/>
        </p:nvPicPr>
        <p:blipFill>
          <a:blip r:embed="rId2">
            <a:extLst>
              <a:ext uri="{28A0092B-C50C-407E-A947-70E740481C1C}">
                <a14:useLocalDpi xmlns:a14="http://schemas.microsoft.com/office/drawing/2010/main" val="0"/>
              </a:ext>
            </a:extLst>
          </a:blip>
          <a:srcRect/>
          <a:stretch>
            <a:fillRect/>
          </a:stretch>
        </p:blipFill>
        <p:spPr bwMode="auto">
          <a:xfrm>
            <a:off x="6609806" y="1905000"/>
            <a:ext cx="4894806" cy="4006222"/>
          </a:xfrm>
          <a:prstGeom prst="rect">
            <a:avLst/>
          </a:prstGeom>
          <a:noFill/>
          <a:ln>
            <a:noFill/>
          </a:ln>
        </p:spPr>
      </p:pic>
    </p:spTree>
    <p:extLst>
      <p:ext uri="{BB962C8B-B14F-4D97-AF65-F5344CB8AC3E}">
        <p14:creationId xmlns:p14="http://schemas.microsoft.com/office/powerpoint/2010/main" val="3516653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Contribution of Physics to Society Cont.</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In </a:t>
            </a:r>
            <a:r>
              <a:rPr lang="en-US" b="1" dirty="0" smtClean="0"/>
              <a:t>Energy                           </a:t>
            </a:r>
          </a:p>
          <a:p>
            <a:pPr marL="0" indent="0">
              <a:buNone/>
            </a:pPr>
            <a:endParaRPr lang="en-US" dirty="0" smtClean="0"/>
          </a:p>
          <a:p>
            <a:pPr>
              <a:buFont typeface="Wingdings" panose="05000000000000000000" pitchFamily="2" charset="2"/>
              <a:buChar char="ü"/>
            </a:pPr>
            <a:r>
              <a:rPr lang="en-US" b="1" dirty="0" smtClean="0"/>
              <a:t> Renewable energy</a:t>
            </a:r>
          </a:p>
          <a:p>
            <a:pPr marL="0" indent="0">
              <a:buNone/>
            </a:pPr>
            <a:endParaRPr lang="en-US" b="1" dirty="0" smtClean="0"/>
          </a:p>
          <a:p>
            <a:pPr>
              <a:buFont typeface="Wingdings" panose="05000000000000000000" pitchFamily="2" charset="2"/>
              <a:buChar char="ü"/>
            </a:pPr>
            <a:r>
              <a:rPr lang="en-US" b="1" dirty="0" smtClean="0"/>
              <a:t>Energy storage</a:t>
            </a:r>
          </a:p>
          <a:p>
            <a:pPr marL="0" indent="0">
              <a:buNone/>
            </a:pPr>
            <a:endParaRPr lang="en-US" b="1" dirty="0" smtClean="0"/>
          </a:p>
          <a:p>
            <a:pPr>
              <a:buFont typeface="Wingdings" panose="05000000000000000000" pitchFamily="2" charset="2"/>
              <a:buChar char="ü"/>
            </a:pPr>
            <a:r>
              <a:rPr lang="en-US" b="1" dirty="0" smtClean="0"/>
              <a:t>Nuclear energy </a:t>
            </a:r>
          </a:p>
          <a:p>
            <a:pPr marL="0" indent="0">
              <a:buNone/>
            </a:pPr>
            <a:endParaRPr lang="en-US" b="1" dirty="0" smtClean="0"/>
          </a:p>
          <a:p>
            <a:pPr>
              <a:buFont typeface="Wingdings" panose="05000000000000000000" pitchFamily="2" charset="2"/>
              <a:buChar char="ü"/>
            </a:pPr>
            <a:r>
              <a:rPr lang="en-US" b="1" dirty="0" smtClean="0"/>
              <a:t>Green hydrogen                                                         </a:t>
            </a:r>
            <a:endParaRPr lang="en-US" b="1" dirty="0"/>
          </a:p>
          <a:p>
            <a:endParaRPr lang="en-US" dirty="0"/>
          </a:p>
        </p:txBody>
      </p:sp>
      <p:pic>
        <p:nvPicPr>
          <p:cNvPr id="4" name="Picture 3" descr="C:\Users\sonjefu\AppData\Local\Microsoft\Windows\INetCache\Content.MSO\FDF8524A.tmp"/>
          <p:cNvPicPr/>
          <p:nvPr/>
        </p:nvPicPr>
        <p:blipFill>
          <a:blip r:embed="rId2">
            <a:extLst>
              <a:ext uri="{28A0092B-C50C-407E-A947-70E740481C1C}">
                <a14:useLocalDpi xmlns:a14="http://schemas.microsoft.com/office/drawing/2010/main" val="0"/>
              </a:ext>
            </a:extLst>
          </a:blip>
          <a:srcRect/>
          <a:stretch>
            <a:fillRect/>
          </a:stretch>
        </p:blipFill>
        <p:spPr bwMode="auto">
          <a:xfrm>
            <a:off x="6897189" y="2021476"/>
            <a:ext cx="3900895" cy="1701437"/>
          </a:xfrm>
          <a:prstGeom prst="rect">
            <a:avLst/>
          </a:prstGeom>
          <a:noFill/>
          <a:ln>
            <a:noFill/>
          </a:ln>
        </p:spPr>
      </p:pic>
      <p:pic>
        <p:nvPicPr>
          <p:cNvPr id="5" name="Picture 4" descr="50,413 Nuclear Energy Stock Photos, Pictures &amp; Royalty-Free ..."/>
          <p:cNvPicPr/>
          <p:nvPr/>
        </p:nvPicPr>
        <p:blipFill>
          <a:blip r:embed="rId3">
            <a:extLst>
              <a:ext uri="{28A0092B-C50C-407E-A947-70E740481C1C}">
                <a14:useLocalDpi xmlns:a14="http://schemas.microsoft.com/office/drawing/2010/main" val="0"/>
              </a:ext>
            </a:extLst>
          </a:blip>
          <a:srcRect/>
          <a:stretch>
            <a:fillRect/>
          </a:stretch>
        </p:blipFill>
        <p:spPr bwMode="auto">
          <a:xfrm>
            <a:off x="6897189" y="3951513"/>
            <a:ext cx="3900895" cy="1619250"/>
          </a:xfrm>
          <a:prstGeom prst="rect">
            <a:avLst/>
          </a:prstGeom>
          <a:noFill/>
          <a:ln>
            <a:noFill/>
          </a:ln>
        </p:spPr>
      </p:pic>
    </p:spTree>
    <p:extLst>
      <p:ext uri="{BB962C8B-B14F-4D97-AF65-F5344CB8AC3E}">
        <p14:creationId xmlns:p14="http://schemas.microsoft.com/office/powerpoint/2010/main" val="1085082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Contribution of Physics to Society Cont.</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t>In Computation, Robotic and Satellite   </a:t>
            </a:r>
          </a:p>
          <a:p>
            <a:pPr marL="0" indent="0">
              <a:buNone/>
            </a:pPr>
            <a:endParaRPr lang="en-US" b="1" dirty="0" smtClean="0"/>
          </a:p>
          <a:p>
            <a:pPr>
              <a:buFont typeface="Wingdings" panose="05000000000000000000" pitchFamily="2" charset="2"/>
              <a:buChar char="ü"/>
            </a:pPr>
            <a:r>
              <a:rPr lang="en-US" b="1" dirty="0" smtClean="0"/>
              <a:t>Computers</a:t>
            </a:r>
          </a:p>
          <a:p>
            <a:pPr marL="0" indent="0">
              <a:buNone/>
            </a:pPr>
            <a:endParaRPr lang="en-US" b="1" dirty="0" smtClean="0"/>
          </a:p>
          <a:p>
            <a:pPr>
              <a:buFont typeface="Wingdings" panose="05000000000000000000" pitchFamily="2" charset="2"/>
              <a:buChar char="ü"/>
            </a:pPr>
            <a:r>
              <a:rPr lang="en-US" b="1" dirty="0" smtClean="0"/>
              <a:t>Robotic</a:t>
            </a:r>
          </a:p>
          <a:p>
            <a:pPr marL="0" indent="0">
              <a:buNone/>
            </a:pPr>
            <a:endParaRPr lang="en-US" b="1" dirty="0" smtClean="0"/>
          </a:p>
          <a:p>
            <a:pPr>
              <a:buFont typeface="Wingdings" panose="05000000000000000000" pitchFamily="2" charset="2"/>
              <a:buChar char="ü"/>
            </a:pPr>
            <a:r>
              <a:rPr lang="en-US" b="1" dirty="0" smtClean="0"/>
              <a:t>Satellite (weather prediction)</a:t>
            </a:r>
          </a:p>
          <a:p>
            <a:pPr marL="0" indent="0">
              <a:buNone/>
            </a:pPr>
            <a:r>
              <a:rPr lang="en-US" b="1" dirty="0" smtClean="0"/>
              <a:t> (Atmospheric physics) </a:t>
            </a:r>
            <a:r>
              <a:rPr lang="en-US" b="1" dirty="0" smtClean="0"/>
              <a:t>(Space physics)</a:t>
            </a:r>
            <a:endParaRPr lang="en-US" b="1" dirty="0" smtClean="0"/>
          </a:p>
          <a:p>
            <a:pPr>
              <a:buFont typeface="Wingdings" panose="05000000000000000000" pitchFamily="2" charset="2"/>
              <a:buChar char="Ø"/>
            </a:pPr>
            <a:endParaRPr lang="en-US" b="1" dirty="0" smtClean="0"/>
          </a:p>
          <a:p>
            <a:pPr>
              <a:buFont typeface="Wingdings" panose="05000000000000000000" pitchFamily="2" charset="2"/>
              <a:buChar char="ü"/>
            </a:pPr>
            <a:endParaRPr lang="en-US" b="1" dirty="0"/>
          </a:p>
        </p:txBody>
      </p:sp>
      <p:pic>
        <p:nvPicPr>
          <p:cNvPr id="4" name="Picture 3" descr="Robotics | SICK"/>
          <p:cNvPicPr/>
          <p:nvPr/>
        </p:nvPicPr>
        <p:blipFill>
          <a:blip r:embed="rId2">
            <a:extLst>
              <a:ext uri="{28A0092B-C50C-407E-A947-70E740481C1C}">
                <a14:useLocalDpi xmlns:a14="http://schemas.microsoft.com/office/drawing/2010/main" val="0"/>
              </a:ext>
            </a:extLst>
          </a:blip>
          <a:srcRect/>
          <a:stretch>
            <a:fillRect/>
          </a:stretch>
        </p:blipFill>
        <p:spPr bwMode="auto">
          <a:xfrm>
            <a:off x="7289074" y="2442753"/>
            <a:ext cx="4467496" cy="3468469"/>
          </a:xfrm>
          <a:prstGeom prst="rect">
            <a:avLst/>
          </a:prstGeom>
          <a:noFill/>
          <a:ln>
            <a:noFill/>
          </a:ln>
        </p:spPr>
      </p:pic>
    </p:spTree>
    <p:extLst>
      <p:ext uri="{BB962C8B-B14F-4D97-AF65-F5344CB8AC3E}">
        <p14:creationId xmlns:p14="http://schemas.microsoft.com/office/powerpoint/2010/main" val="3860284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99741"/>
          </a:xfrm>
        </p:spPr>
        <p:txBody>
          <a:bodyPr/>
          <a:lstStyle/>
          <a:p>
            <a:r>
              <a:rPr lang="en-US" dirty="0" smtClean="0"/>
              <a:t>Job Opportunity for Physicists</a:t>
            </a:r>
            <a:endParaRPr lang="en-US" dirty="0"/>
          </a:p>
        </p:txBody>
      </p:sp>
      <p:sp>
        <p:nvSpPr>
          <p:cNvPr id="3" name="Content Placeholder 2"/>
          <p:cNvSpPr>
            <a:spLocks noGrp="1"/>
          </p:cNvSpPr>
          <p:nvPr>
            <p:ph idx="1"/>
          </p:nvPr>
        </p:nvSpPr>
        <p:spPr>
          <a:xfrm>
            <a:off x="2589212" y="1554479"/>
            <a:ext cx="8915400" cy="4702629"/>
          </a:xfrm>
        </p:spPr>
        <p:txBody>
          <a:bodyPr/>
          <a:lstStyle/>
          <a:p>
            <a:pPr>
              <a:buFont typeface="Wingdings" panose="05000000000000000000" pitchFamily="2" charset="2"/>
              <a:buChar char="Ø"/>
            </a:pPr>
            <a:r>
              <a:rPr lang="en-US" dirty="0" smtClean="0"/>
              <a:t>Secondary School                                         </a:t>
            </a:r>
          </a:p>
          <a:p>
            <a:pPr>
              <a:buFont typeface="Wingdings" panose="05000000000000000000" pitchFamily="2" charset="2"/>
              <a:buChar char="Ø"/>
            </a:pPr>
            <a:r>
              <a:rPr lang="en-US" dirty="0" smtClean="0"/>
              <a:t>Academic Research in Universities</a:t>
            </a:r>
          </a:p>
          <a:p>
            <a:pPr>
              <a:buFont typeface="Wingdings" panose="05000000000000000000" pitchFamily="2" charset="2"/>
              <a:buChar char="Ø"/>
            </a:pPr>
            <a:r>
              <a:rPr lang="en-US" dirty="0" smtClean="0"/>
              <a:t>Namibia Standard Institute</a:t>
            </a:r>
          </a:p>
          <a:p>
            <a:pPr>
              <a:buFont typeface="Wingdings" panose="05000000000000000000" pitchFamily="2" charset="2"/>
              <a:buChar char="Ø"/>
            </a:pPr>
            <a:r>
              <a:rPr lang="en-US" dirty="0" smtClean="0"/>
              <a:t>Mining industries</a:t>
            </a:r>
          </a:p>
          <a:p>
            <a:pPr>
              <a:buFont typeface="Wingdings" panose="05000000000000000000" pitchFamily="2" charset="2"/>
              <a:buChar char="Ø"/>
            </a:pPr>
            <a:r>
              <a:rPr lang="en-US" dirty="0" smtClean="0"/>
              <a:t>Power Plants</a:t>
            </a:r>
          </a:p>
          <a:p>
            <a:pPr>
              <a:buFont typeface="Wingdings" panose="05000000000000000000" pitchFamily="2" charset="2"/>
              <a:buChar char="Ø"/>
            </a:pPr>
            <a:r>
              <a:rPr lang="en-US" dirty="0" smtClean="0"/>
              <a:t>Hospitals</a:t>
            </a:r>
          </a:p>
          <a:p>
            <a:pPr>
              <a:buFont typeface="Wingdings" panose="05000000000000000000" pitchFamily="2" charset="2"/>
              <a:buChar char="Ø"/>
            </a:pPr>
            <a:r>
              <a:rPr lang="en-US" dirty="0" smtClean="0"/>
              <a:t>Quality Assurance officers in companies</a:t>
            </a:r>
          </a:p>
          <a:p>
            <a:pPr>
              <a:buFont typeface="Wingdings" panose="05000000000000000000" pitchFamily="2" charset="2"/>
              <a:buChar char="Ø"/>
            </a:pPr>
            <a:r>
              <a:rPr lang="en-US" dirty="0" smtClean="0"/>
              <a:t>Ministry of Mines and Energy</a:t>
            </a:r>
          </a:p>
          <a:p>
            <a:pPr>
              <a:buFont typeface="Wingdings" panose="05000000000000000000" pitchFamily="2" charset="2"/>
              <a:buChar char="Ø"/>
            </a:pPr>
            <a:r>
              <a:rPr lang="en-US" dirty="0" smtClean="0"/>
              <a:t>Air port </a:t>
            </a:r>
          </a:p>
        </p:txBody>
      </p:sp>
      <p:pic>
        <p:nvPicPr>
          <p:cNvPr id="4" name="Picture 3" descr="Working Man Clipart, Transparent PNG Clipart Images Free ..."/>
          <p:cNvPicPr/>
          <p:nvPr/>
        </p:nvPicPr>
        <p:blipFill>
          <a:blip r:embed="rId2">
            <a:extLst>
              <a:ext uri="{28A0092B-C50C-407E-A947-70E740481C1C}">
                <a14:useLocalDpi xmlns:a14="http://schemas.microsoft.com/office/drawing/2010/main" val="0"/>
              </a:ext>
            </a:extLst>
          </a:blip>
          <a:srcRect/>
          <a:stretch>
            <a:fillRect/>
          </a:stretch>
        </p:blipFill>
        <p:spPr bwMode="auto">
          <a:xfrm>
            <a:off x="7537270" y="1423851"/>
            <a:ext cx="3967342" cy="4415246"/>
          </a:xfrm>
          <a:prstGeom prst="rect">
            <a:avLst/>
          </a:prstGeom>
          <a:noFill/>
          <a:ln>
            <a:noFill/>
          </a:ln>
        </p:spPr>
      </p:pic>
    </p:spTree>
    <p:extLst>
      <p:ext uri="{BB962C8B-B14F-4D97-AF65-F5344CB8AC3E}">
        <p14:creationId xmlns:p14="http://schemas.microsoft.com/office/powerpoint/2010/main" val="2986745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Opportunity for </a:t>
            </a:r>
            <a:r>
              <a:rPr lang="en-US" dirty="0" smtClean="0"/>
              <a:t>Physicists Cont.</a:t>
            </a:r>
            <a:endParaRPr lang="en-US" dirty="0"/>
          </a:p>
        </p:txBody>
      </p:sp>
      <p:sp>
        <p:nvSpPr>
          <p:cNvPr id="3" name="Content Placeholder 2"/>
          <p:cNvSpPr>
            <a:spLocks noGrp="1"/>
          </p:cNvSpPr>
          <p:nvPr>
            <p:ph idx="1"/>
          </p:nvPr>
        </p:nvSpPr>
        <p:spPr>
          <a:xfrm>
            <a:off x="2589212" y="1632857"/>
            <a:ext cx="8915400" cy="4278365"/>
          </a:xfrm>
        </p:spPr>
        <p:txBody>
          <a:bodyPr>
            <a:normAutofit lnSpcReduction="10000"/>
          </a:bodyPr>
          <a:lstStyle/>
          <a:p>
            <a:pPr>
              <a:buFont typeface="Wingdings" panose="05000000000000000000" pitchFamily="2" charset="2"/>
              <a:buChar char="Ø"/>
            </a:pPr>
            <a:r>
              <a:rPr lang="en-US" dirty="0" smtClean="0"/>
              <a:t>Weather station                                                  </a:t>
            </a:r>
          </a:p>
          <a:p>
            <a:pPr marL="0" indent="0">
              <a:buNone/>
            </a:pPr>
            <a:endParaRPr lang="en-US" dirty="0" smtClean="0"/>
          </a:p>
          <a:p>
            <a:pPr>
              <a:buFont typeface="Wingdings" panose="05000000000000000000" pitchFamily="2" charset="2"/>
              <a:buChar char="Ø"/>
            </a:pPr>
            <a:r>
              <a:rPr lang="en-US" dirty="0" smtClean="0"/>
              <a:t>Consultancy in Environmental impact </a:t>
            </a:r>
          </a:p>
          <a:p>
            <a:pPr marL="0" indent="0">
              <a:buNone/>
            </a:pPr>
            <a:endParaRPr lang="en-US" dirty="0" smtClean="0"/>
          </a:p>
          <a:p>
            <a:pPr>
              <a:buFont typeface="Wingdings" panose="05000000000000000000" pitchFamily="2" charset="2"/>
              <a:buChar char="Ø"/>
            </a:pPr>
            <a:r>
              <a:rPr lang="en-US" dirty="0" smtClean="0"/>
              <a:t>Nam Water </a:t>
            </a:r>
          </a:p>
          <a:p>
            <a:pPr marL="0" indent="0">
              <a:buNone/>
            </a:pPr>
            <a:endParaRPr lang="en-US" dirty="0" smtClean="0"/>
          </a:p>
          <a:p>
            <a:pPr>
              <a:buFont typeface="Wingdings" panose="05000000000000000000" pitchFamily="2" charset="2"/>
              <a:buChar char="Ø"/>
            </a:pPr>
            <a:r>
              <a:rPr lang="en-US" dirty="0" smtClean="0"/>
              <a:t>Telecom industry</a:t>
            </a:r>
          </a:p>
          <a:p>
            <a:pPr marL="0" indent="0">
              <a:buNone/>
            </a:pPr>
            <a:endParaRPr lang="en-US" dirty="0" smtClean="0"/>
          </a:p>
          <a:p>
            <a:pPr>
              <a:buFont typeface="Wingdings" panose="05000000000000000000" pitchFamily="2" charset="2"/>
              <a:buChar char="Ø"/>
            </a:pPr>
            <a:r>
              <a:rPr lang="en-US" dirty="0" smtClean="0"/>
              <a:t>Military Services (Communication operators)</a:t>
            </a:r>
          </a:p>
          <a:p>
            <a:pPr marL="0" indent="0">
              <a:buNone/>
            </a:pPr>
            <a:endParaRPr lang="en-US" dirty="0" smtClean="0"/>
          </a:p>
          <a:p>
            <a:pPr>
              <a:buFont typeface="Wingdings" panose="05000000000000000000" pitchFamily="2" charset="2"/>
              <a:buChar char="Ø"/>
            </a:pPr>
            <a:r>
              <a:rPr lang="en-US" dirty="0" smtClean="0"/>
              <a:t>The list is endless</a:t>
            </a:r>
            <a:endParaRPr lang="en-US" dirty="0"/>
          </a:p>
        </p:txBody>
      </p:sp>
      <p:pic>
        <p:nvPicPr>
          <p:cNvPr id="4" name="Picture 3" descr="Working man sketch stock illustration. Illustration of ..."/>
          <p:cNvPicPr/>
          <p:nvPr/>
        </p:nvPicPr>
        <p:blipFill>
          <a:blip r:embed="rId2">
            <a:extLst>
              <a:ext uri="{28A0092B-C50C-407E-A947-70E740481C1C}">
                <a14:useLocalDpi xmlns:a14="http://schemas.microsoft.com/office/drawing/2010/main" val="0"/>
              </a:ext>
            </a:extLst>
          </a:blip>
          <a:srcRect/>
          <a:stretch>
            <a:fillRect/>
          </a:stretch>
        </p:blipFill>
        <p:spPr bwMode="auto">
          <a:xfrm>
            <a:off x="8177348" y="1464854"/>
            <a:ext cx="3735433" cy="4446368"/>
          </a:xfrm>
          <a:prstGeom prst="rect">
            <a:avLst/>
          </a:prstGeom>
          <a:noFill/>
          <a:ln>
            <a:noFill/>
          </a:ln>
        </p:spPr>
      </p:pic>
    </p:spTree>
    <p:extLst>
      <p:ext uri="{BB962C8B-B14F-4D97-AF65-F5344CB8AC3E}">
        <p14:creationId xmlns:p14="http://schemas.microsoft.com/office/powerpoint/2010/main" val="2432353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facing physics education</a:t>
            </a:r>
            <a:endParaRPr lang="en-US" dirty="0"/>
          </a:p>
        </p:txBody>
      </p:sp>
      <p:sp>
        <p:nvSpPr>
          <p:cNvPr id="3" name="Content Placeholder 2"/>
          <p:cNvSpPr>
            <a:spLocks noGrp="1"/>
          </p:cNvSpPr>
          <p:nvPr>
            <p:ph idx="1"/>
          </p:nvPr>
        </p:nvSpPr>
        <p:spPr>
          <a:xfrm>
            <a:off x="1805439" y="1528354"/>
            <a:ext cx="9951131" cy="4062549"/>
          </a:xfrm>
        </p:spPr>
        <p:txBody>
          <a:bodyPr/>
          <a:lstStyle/>
          <a:p>
            <a:pPr>
              <a:buFont typeface="Wingdings" panose="05000000000000000000" pitchFamily="2" charset="2"/>
              <a:buChar char="Ø"/>
            </a:pPr>
            <a:r>
              <a:rPr lang="en-US" dirty="0" smtClean="0"/>
              <a:t>Poor teacher’s motivation                              </a:t>
            </a:r>
          </a:p>
          <a:p>
            <a:pPr marL="0" indent="0">
              <a:buNone/>
            </a:pPr>
            <a:endParaRPr lang="en-US" dirty="0" smtClean="0"/>
          </a:p>
          <a:p>
            <a:pPr>
              <a:buFont typeface="Wingdings" panose="05000000000000000000" pitchFamily="2" charset="2"/>
              <a:buChar char="Ø"/>
            </a:pPr>
            <a:r>
              <a:rPr lang="en-US" dirty="0" smtClean="0"/>
              <a:t>Lack of teaching aids</a:t>
            </a:r>
          </a:p>
          <a:p>
            <a:pPr marL="0" indent="0">
              <a:buNone/>
            </a:pPr>
            <a:endParaRPr lang="en-US" dirty="0" smtClean="0"/>
          </a:p>
          <a:p>
            <a:pPr>
              <a:buFont typeface="Wingdings" panose="05000000000000000000" pitchFamily="2" charset="2"/>
              <a:buChar char="Ø"/>
            </a:pPr>
            <a:r>
              <a:rPr lang="en-US" dirty="0" smtClean="0"/>
              <a:t>Inadequate laboratory facilities</a:t>
            </a:r>
          </a:p>
          <a:p>
            <a:pPr marL="0" indent="0">
              <a:buNone/>
            </a:pPr>
            <a:endParaRPr lang="en-US" dirty="0" smtClean="0"/>
          </a:p>
          <a:p>
            <a:pPr>
              <a:buFont typeface="Wingdings" panose="05000000000000000000" pitchFamily="2" charset="2"/>
              <a:buChar char="Ø"/>
            </a:pPr>
            <a:r>
              <a:rPr lang="en-US" dirty="0" smtClean="0"/>
              <a:t>Poor / uncommitted learner/students</a:t>
            </a:r>
          </a:p>
          <a:p>
            <a:pPr marL="0" indent="0">
              <a:buNone/>
            </a:pPr>
            <a:endParaRPr lang="en-US" dirty="0" smtClean="0"/>
          </a:p>
          <a:p>
            <a:pPr>
              <a:buFont typeface="Wingdings" panose="05000000000000000000" pitchFamily="2" charset="2"/>
              <a:buChar char="Ø"/>
            </a:pPr>
            <a:r>
              <a:rPr lang="en-US" dirty="0" smtClean="0"/>
              <a:t>Inadequate number of indigenous textbook</a:t>
            </a:r>
          </a:p>
          <a:p>
            <a:pPr>
              <a:buFont typeface="Wingdings" panose="05000000000000000000" pitchFamily="2" charset="2"/>
              <a:buChar char="Ø"/>
            </a:pPr>
            <a:endParaRPr lang="en-US" dirty="0"/>
          </a:p>
        </p:txBody>
      </p:sp>
      <p:pic>
        <p:nvPicPr>
          <p:cNvPr id="4" name="Picture 3" descr="Crying Girl Sketch"/>
          <p:cNvPicPr/>
          <p:nvPr/>
        </p:nvPicPr>
        <p:blipFill>
          <a:blip r:embed="rId2">
            <a:extLst>
              <a:ext uri="{28A0092B-C50C-407E-A947-70E740481C1C}">
                <a14:useLocalDpi xmlns:a14="http://schemas.microsoft.com/office/drawing/2010/main" val="0"/>
              </a:ext>
            </a:extLst>
          </a:blip>
          <a:srcRect/>
          <a:stretch>
            <a:fillRect/>
          </a:stretch>
        </p:blipFill>
        <p:spPr bwMode="auto">
          <a:xfrm>
            <a:off x="7589520" y="1528354"/>
            <a:ext cx="3383280" cy="3526972"/>
          </a:xfrm>
          <a:prstGeom prst="rect">
            <a:avLst/>
          </a:prstGeom>
          <a:noFill/>
          <a:ln>
            <a:noFill/>
          </a:ln>
        </p:spPr>
      </p:pic>
    </p:spTree>
    <p:extLst>
      <p:ext uri="{BB962C8B-B14F-4D97-AF65-F5344CB8AC3E}">
        <p14:creationId xmlns:p14="http://schemas.microsoft.com/office/powerpoint/2010/main" val="3385854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06098"/>
            <a:ext cx="8911687" cy="786679"/>
          </a:xfrm>
        </p:spPr>
        <p:txBody>
          <a:bodyPr/>
          <a:lstStyle/>
          <a:p>
            <a:r>
              <a:rPr lang="en-US" dirty="0" smtClean="0"/>
              <a:t>Recommendations</a:t>
            </a:r>
            <a:endParaRPr lang="en-US" dirty="0"/>
          </a:p>
        </p:txBody>
      </p:sp>
      <p:sp>
        <p:nvSpPr>
          <p:cNvPr id="3" name="Content Placeholder 2"/>
          <p:cNvSpPr>
            <a:spLocks noGrp="1"/>
          </p:cNvSpPr>
          <p:nvPr>
            <p:ph idx="1"/>
          </p:nvPr>
        </p:nvSpPr>
        <p:spPr>
          <a:xfrm>
            <a:off x="1763486" y="1084217"/>
            <a:ext cx="10149840" cy="4827005"/>
          </a:xfrm>
        </p:spPr>
        <p:txBody>
          <a:bodyPr>
            <a:normAutofit fontScale="92500" lnSpcReduction="20000"/>
          </a:bodyPr>
          <a:lstStyle/>
          <a:p>
            <a:pPr>
              <a:buFont typeface="Wingdings" panose="05000000000000000000" pitchFamily="2" charset="2"/>
              <a:buChar char="Ø"/>
            </a:pPr>
            <a:r>
              <a:rPr lang="en-US" dirty="0" smtClean="0"/>
              <a:t>Recruitment of more Namibian physics teacher                        </a:t>
            </a:r>
          </a:p>
          <a:p>
            <a:pPr marL="0" indent="0">
              <a:buNone/>
            </a:pPr>
            <a:endParaRPr lang="en-US" dirty="0" smtClean="0"/>
          </a:p>
          <a:p>
            <a:pPr>
              <a:buFont typeface="Wingdings" panose="05000000000000000000" pitchFamily="2" charset="2"/>
              <a:buChar char="Ø"/>
            </a:pPr>
            <a:r>
              <a:rPr lang="en-US" dirty="0" smtClean="0"/>
              <a:t>Recruitment should be based on merit</a:t>
            </a:r>
          </a:p>
          <a:p>
            <a:pPr marL="0" indent="0">
              <a:buNone/>
            </a:pPr>
            <a:endParaRPr lang="en-US" dirty="0" smtClean="0"/>
          </a:p>
          <a:p>
            <a:pPr>
              <a:buFont typeface="Wingdings" panose="05000000000000000000" pitchFamily="2" charset="2"/>
              <a:buChar char="Ø"/>
            </a:pPr>
            <a:r>
              <a:rPr lang="en-US" dirty="0" smtClean="0"/>
              <a:t>Modern laboratory equipment be supplied to all school</a:t>
            </a:r>
          </a:p>
          <a:p>
            <a:pPr marL="0" indent="0">
              <a:buNone/>
            </a:pPr>
            <a:endParaRPr lang="en-US" dirty="0" smtClean="0"/>
          </a:p>
          <a:p>
            <a:pPr>
              <a:buFont typeface="Wingdings" panose="05000000000000000000" pitchFamily="2" charset="2"/>
              <a:buChar char="Ø"/>
            </a:pPr>
            <a:r>
              <a:rPr lang="en-US" dirty="0" smtClean="0"/>
              <a:t>Curriculum be review to meet the present advancement</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Learners/students should be counsel and guided properly</a:t>
            </a:r>
          </a:p>
          <a:p>
            <a:pPr marL="0" indent="0">
              <a:buNone/>
            </a:pPr>
            <a:endParaRPr lang="en-US" dirty="0" smtClean="0"/>
          </a:p>
          <a:p>
            <a:pPr>
              <a:buFont typeface="Wingdings" panose="05000000000000000000" pitchFamily="2" charset="2"/>
              <a:buChar char="Ø"/>
            </a:pPr>
            <a:r>
              <a:rPr lang="en-US" dirty="0" smtClean="0"/>
              <a:t>Political deception should be avoided in education sector</a:t>
            </a:r>
          </a:p>
          <a:p>
            <a:pPr marL="0" indent="0">
              <a:buNone/>
            </a:pPr>
            <a:endParaRPr lang="en-US" dirty="0" smtClean="0"/>
          </a:p>
          <a:p>
            <a:pPr>
              <a:buFont typeface="Wingdings" panose="05000000000000000000" pitchFamily="2" charset="2"/>
              <a:buChar char="Ø"/>
            </a:pPr>
            <a:r>
              <a:rPr lang="en-US" dirty="0" smtClean="0"/>
              <a:t>Physics teacher and science teachers should be motivated by given incentives (special salary scale)</a:t>
            </a:r>
            <a:endParaRPr lang="en-US" dirty="0"/>
          </a:p>
        </p:txBody>
      </p:sp>
      <p:pic>
        <p:nvPicPr>
          <p:cNvPr id="5" name="Picture 4" descr="1,669 Man Pleading Illustrations &amp; Clip Art - iStock"/>
          <p:cNvPicPr/>
          <p:nvPr/>
        </p:nvPicPr>
        <p:blipFill>
          <a:blip r:embed="rId2">
            <a:extLst>
              <a:ext uri="{28A0092B-C50C-407E-A947-70E740481C1C}">
                <a14:useLocalDpi xmlns:a14="http://schemas.microsoft.com/office/drawing/2010/main" val="0"/>
              </a:ext>
            </a:extLst>
          </a:blip>
          <a:srcRect/>
          <a:stretch>
            <a:fillRect/>
          </a:stretch>
        </p:blipFill>
        <p:spPr bwMode="auto">
          <a:xfrm>
            <a:off x="8543109" y="1084217"/>
            <a:ext cx="3370217" cy="3396343"/>
          </a:xfrm>
          <a:prstGeom prst="rect">
            <a:avLst/>
          </a:prstGeom>
          <a:noFill/>
          <a:ln>
            <a:noFill/>
          </a:ln>
        </p:spPr>
      </p:pic>
    </p:spTree>
    <p:extLst>
      <p:ext uri="{BB962C8B-B14F-4D97-AF65-F5344CB8AC3E}">
        <p14:creationId xmlns:p14="http://schemas.microsoft.com/office/powerpoint/2010/main" val="908867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09"/>
            <a:ext cx="8911687" cy="4601033"/>
          </a:xfrm>
        </p:spPr>
        <p:txBody>
          <a:bodyPr/>
          <a:lstStyle/>
          <a:p>
            <a:r>
              <a:rPr lang="en-US" dirty="0" smtClean="0"/>
              <a:t/>
            </a:r>
            <a:br>
              <a:rPr lang="en-US" dirty="0" smtClean="0"/>
            </a:br>
            <a:r>
              <a:rPr lang="en-US" dirty="0"/>
              <a:t/>
            </a:r>
            <a:br>
              <a:rPr lang="en-US" dirty="0"/>
            </a:br>
            <a:r>
              <a:rPr lang="en-US" dirty="0" smtClean="0"/>
              <a:t/>
            </a:r>
            <a:br>
              <a:rPr lang="en-US" dirty="0" smtClean="0"/>
            </a:br>
            <a:r>
              <a:rPr lang="en-US" dirty="0"/>
              <a:t> </a:t>
            </a:r>
            <a:r>
              <a:rPr lang="en-US" dirty="0" smtClean="0"/>
              <a:t>                     </a:t>
            </a:r>
            <a:r>
              <a:rPr lang="en-US" sz="5400" dirty="0" smtClean="0"/>
              <a:t>THANK YOU </a:t>
            </a:r>
            <a:r>
              <a:rPr lang="en-US" dirty="0" smtClean="0"/>
              <a:t/>
            </a:r>
            <a:br>
              <a:rPr lang="en-US" dirty="0" smtClean="0"/>
            </a:br>
            <a:r>
              <a:rPr lang="en-US" dirty="0"/>
              <a:t> </a:t>
            </a:r>
            <a:r>
              <a:rPr lang="en-US" dirty="0" smtClean="0"/>
              <a:t>                           </a:t>
            </a:r>
            <a:endParaRPr lang="en-US" dirty="0"/>
          </a:p>
        </p:txBody>
      </p:sp>
      <p:pic>
        <p:nvPicPr>
          <p:cNvPr id="4" name="Content Placeholder 3" descr="Portrait of young man with beard making or gesturing heart symbol with fingers. Male character design illustration. Modern lifestyle, healthcare, love concept in vector cartoon flat style. Heart Shape stock vecto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5368835" cy="6858000"/>
          </a:xfrm>
          <a:prstGeom prst="rect">
            <a:avLst/>
          </a:prstGeom>
          <a:noFill/>
          <a:ln>
            <a:noFill/>
          </a:ln>
        </p:spPr>
      </p:pic>
    </p:spTree>
    <p:extLst>
      <p:ext uri="{BB962C8B-B14F-4D97-AF65-F5344CB8AC3E}">
        <p14:creationId xmlns:p14="http://schemas.microsoft.com/office/powerpoint/2010/main" val="329728613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9" ma:contentTypeDescription="Create a new document." ma:contentTypeScope="" ma:versionID="b2110dc21797fbeda8c09c83a29ce618">
  <xsd:schema xmlns:xsd="http://www.w3.org/2001/XMLSchema" xmlns:xs="http://www.w3.org/2001/XMLSchema" xmlns:p="http://schemas.microsoft.com/office/2006/metadata/properties" xmlns:ns3="95e470c5-d555-45ea-b7d4-7b5e2c49540b" targetNamespace="http://schemas.microsoft.com/office/2006/metadata/properties" ma:root="true" ma:fieldsID="dd5af7f39ffae625376521ef746ef403" ns3:_="">
    <xsd:import namespace="95e470c5-d555-45ea-b7d4-7b5e2c49540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6AD639-F597-4C26-93AF-89C1DB15C5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FAD36D-48B2-431D-B001-60FC33B3297E}">
  <ds:schemaRefs>
    <ds:schemaRef ds:uri="http://schemas.microsoft.com/sharepoint/v3/contenttype/forms"/>
  </ds:schemaRefs>
</ds:datastoreItem>
</file>

<file path=customXml/itemProps3.xml><?xml version="1.0" encoding="utf-8"?>
<ds:datastoreItem xmlns:ds="http://schemas.openxmlformats.org/officeDocument/2006/customXml" ds:itemID="{87E49079-7E81-4423-9945-0A5E272DF25C}">
  <ds:schemaRefs>
    <ds:schemaRef ds:uri="http://schemas.microsoft.com/office/infopath/2007/PartnerControls"/>
    <ds:schemaRef ds:uri="http://purl.org/dc/elements/1.1/"/>
    <ds:schemaRef ds:uri="http://purl.org/dc/terms/"/>
    <ds:schemaRef ds:uri="http://schemas.microsoft.com/office/2006/documentManagement/types"/>
    <ds:schemaRef ds:uri="http://schemas.microsoft.com/office/2006/metadata/properties"/>
    <ds:schemaRef ds:uri="http://schemas.openxmlformats.org/package/2006/metadata/core-properties"/>
    <ds:schemaRef ds:uri="95e470c5-d555-45ea-b7d4-7b5e2c49540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Wisp</Template>
  <TotalTime>503</TotalTime>
  <Words>426</Words>
  <Application>Microsoft Office PowerPoint</Application>
  <PresentationFormat>Widescreen</PresentationFormat>
  <Paragraphs>128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Wingdings</vt:lpstr>
      <vt:lpstr>Wingdings 3</vt:lpstr>
      <vt:lpstr>Wisp</vt:lpstr>
      <vt:lpstr>Role of Physics Education for Technological Development for Employment and Self Productivity in Namibia</vt:lpstr>
      <vt:lpstr>What is Physics?</vt:lpstr>
      <vt:lpstr>What is Physics Cont.</vt:lpstr>
      <vt:lpstr>Why do we study Physics?</vt:lpstr>
      <vt:lpstr>Contribution of Physics to Society</vt:lpstr>
      <vt:lpstr>Contribution of Physics to Society Cont.</vt:lpstr>
      <vt:lpstr>Contribution of Physics to Society Cont.</vt:lpstr>
      <vt:lpstr>Contribution of Physics to Society Cont.</vt:lpstr>
      <vt:lpstr>Contribution of Physics to Society Cont.</vt:lpstr>
      <vt:lpstr>Job Opportunity for Physicists</vt:lpstr>
      <vt:lpstr>Job Opportunity for Physicists Cont.</vt:lpstr>
      <vt:lpstr>Problems facing physics education</vt:lpstr>
      <vt:lpstr>Recommendations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of Physics Education for Technological Development for Employment and Self Productivity in Namibia</dc:title>
  <dc:creator>Prof. Onjefu, Sylvanus</dc:creator>
  <cp:lastModifiedBy>Prof. Onjefu, Sylvanus</cp:lastModifiedBy>
  <cp:revision>24</cp:revision>
  <dcterms:created xsi:type="dcterms:W3CDTF">2022-09-26T07:48:45Z</dcterms:created>
  <dcterms:modified xsi:type="dcterms:W3CDTF">2022-10-04T05:50:49Z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